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8" r:id="rId7"/>
    <p:sldId id="262" r:id="rId8"/>
    <p:sldId id="270" r:id="rId18"/>
    <p:sldId id="269" r:id="rId9"/>
    <p:sldId id="267"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523" autoAdjust="0"/>
  </p:normalViewPr>
  <p:slideViewPr>
    <p:cSldViewPr snapToGrid="0" snapToObjects="1">
      <p:cViewPr varScale="1">
        <p:scale>
          <a:sx n="124" d="100"/>
          <a:sy n="124" d="100"/>
        </p:scale>
        <p:origin x="15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733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[Fabrício · ~15 sec] Hi, we are Fabrício, Hugo, Maria Teresa, Olívia and Pedro. We built a model that predicts which credit card customers may miss next month's payment, and the MLOps setup around it: tracking, a registry with champion vs challenger, a fairness check, an API and Docker.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[Fabrício · ~30 sec] Banks often only find out about a default when it is already too late. So we predict, for each customer, the probability of defaulting next month. The output is a risk score for an analyst to review; the model does not approve or reject anyone. We used a public Kaggle dataset with 30,000 customers from Taiwan.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[Maria Teresa · ~20 sec] These are our six steps and the tool for each one: pandas to explore, scikit-learn to train, MLflow to track runs and register models, FastAPI to serve predictions, and Docker to run everything the same way on any laptop. Steps one to four run with one command. Monitoring is the step we have not built yet.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[Maria Teresa · ~25 sec] We started by exploring the data. [Point at the chart] Only 22% of customers default. So a model that says 'no default' to everyone is already 78% accurate and useless, which is why we did not judge our models on accuracy. We also used a stratified split, so train and test keep the same 22%.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[Hugo · ~25 sec] Training runs with one command. [Point at the table] It trains Logistic Regression and Random Forest and prints this comparison. Cleaning, features and model are saved as one pipeline, so the API applies exactly the same steps. Every run also checks fairness. And the random seed is fixed, so anyone gets the same numbers.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[Hugo · ~25 sec] Every time we train, MLflow saves a run for each model automatically. [Point at the list] Each run keeps the parameters, metrics, charts, the fairness report and the model file. [Point at the compare view] We compare runs side by side instead of keeping notes.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[Olívia · ~30 sec] Random Forest wins on ROC-AUC, 0.775 against 0.745. But a new model does not go to production automatically. It is registered as a challenger, and it only takes the champion alias if it beats the current champion. [Point at the cards] When we retrained on the same data the score was the same, so the challenger was not promoted and the API kept version 1. A bad retrain can never replace a better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[Pedro · ~25 sec] The API loads the champion model from MLflow. We sent one customer to /predict and [point at the top] got a 77% probability of default, so high risk. The answer says which model version answered and reminds the user that a human must review the score. [Point at the right] Wrong input, like an age of 150, is rejected with error 422 before it reaches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[Pedro · ~20 sec] Everything runs in Docker: MLflow and the API as two containers, and the trainer as a third that runs only when we train. A teammate only needs Git, Docker and the data file. And on every push, GitHub runs our 27 automated tests and builds the Docker image.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[Pedro · ~30 sec] To sum up: experiments and fairness tracked in MLflow, champion vs challenger in the registry, a validated API, and everything in Docker with automated tests. Next: monitor drift, retrain without sensitive attributes, and agree the threshold with the business. Because credit scoring is high-risk, a human stays in the loop.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questions. Why not accuracy? Saying 'no default' to everyone is already 77.9% accurate. Why threshold 0.5? It is the default; the business should set it from the cost of a missed defaulter versus a false alarm. Is Random Forest really better? On this split yes; cross-validation would confirm it. Why is education unfair? High-school customers default more in the data (26% vs 19%), but good high-school customers still get more false alarms; that needs a human and legal review. Why not remove sensitive columns? It is our next experiment, but other columns can act as proxies. Monitoring? Next step, for example with Evidently. Roles? Data scientist (models), ML engineer (pipeline, Docker, CI), responsible-AI owner (fairness, model card).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[Olívia · ~35 sec] Credit scoring is high-risk under the EU AI Act, so every training run checks fairness automatically. We compare defaulters caught and false alarms across groups, with the 80% rule. [Point at left] Sex and age pass: we catch 58% of defaulters for both women and men. [Point at right] Education does not: good customers with high-school education get more false alarms than graduates. So a human reviews every flag, it is documented in our model card, and our next step is to retrain without sensitive attributes and compare.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0.png"/><Relationship Id="rId10"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0.png"/><Relationship Id="rId1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0.png"/><Relationship Id="rId10" Type="http://schemas.openxmlformats.org/officeDocument/2006/relationships/image" Target="../media/image20.png"/><Relationship Id="rId11"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0.png"/><Relationship Id="rId10" Type="http://schemas.openxmlformats.org/officeDocument/2006/relationships/image" Target="../media/image23.png"/><Relationship Id="rId11"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0.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8.png"/><Relationship Id="rId8" Type="http://schemas.openxmlformats.org/officeDocument/2006/relationships/image" Target="../media/image15.png"/><Relationship Id="rId9" Type="http://schemas.openxmlformats.org/officeDocument/2006/relationships/image" Target="../media/image10.png"/><Relationship Id="rId10" Type="http://schemas.openxmlformats.org/officeDocument/2006/relationships/image" Target="../media/image26.png"/><Relationship Id="rId11"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Text 0"/>
          <p:cNvSpPr txBox="1"/>
          <p:nvPr/>
        </p:nvSpPr>
        <p:spPr>
          <a:xfrm>
            <a:off x="731520" y="2103120"/>
            <a:ext cx="10058400" cy="365760"/>
          </a:xfrm>
          <a:prstGeom prst="rect">
            <a:avLst/>
          </a:prstGeom>
          <a:noFill/>
          <a:ln/>
        </p:spPr>
        <p:txBody>
          <a:bodyPr wrap="square" lIns="0" tIns="0" rIns="0" bIns="0" rtlCol="0" anchor="ctr"/>
          <a:lstStyle/>
          <a:p>
            <a:pPr marL="0" indent="0">
              <a:buNone/>
            </a:pPr>
            <a:r>
              <a:rPr lang="en-US" sz="1400" b="1" kern="0" spc="300" dirty="0">
                <a:solidFill>
                  <a:srgbClr val="34D399"/>
                </a:solidFill>
                <a:latin typeface="Calibri" pitchFamily="34" charset="0"/>
                <a:ea typeface="Calibri" pitchFamily="34" charset="-122"/>
                <a:cs typeface="Calibri" pitchFamily="34" charset="-120"/>
              </a:rPr>
              <a:t>MACHINE LEARNING OPERATIONS · MINI-PROJECT</a:t>
            </a:r>
            <a:endParaRPr lang="en-US" sz="1400" dirty="0"/>
          </a:p>
        </p:txBody>
      </p:sp>
      <p:sp>
        <p:nvSpPr>
          <p:cNvPr id="3" name="Text 1"/>
          <p:cNvSpPr txBox="1"/>
          <p:nvPr/>
        </p:nvSpPr>
        <p:spPr>
          <a:xfrm>
            <a:off x="731520" y="2560320"/>
            <a:ext cx="10789920" cy="14630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Credit Default Risk Prediction with MLOps</a:t>
            </a:r>
            <a:endParaRPr lang="en-US" sz="4400" dirty="0"/>
          </a:p>
        </p:txBody>
      </p:sp>
      <p:sp>
        <p:nvSpPr>
          <p:cNvPr id="4" name="Text 2"/>
          <p:cNvSpPr txBox="1"/>
          <p:nvPr/>
        </p:nvSpPr>
        <p:spPr>
          <a:xfrm>
            <a:off x="731520" y="4754880"/>
            <a:ext cx="10058400" cy="36576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Fabrício Olo</a:t>
            </a:r>
          </a:p>
          <a:p>
            <a:pPr marL="0" indent="0">
              <a:buNone/>
            </a:pPr>
            <a:r>
              <a:rPr lang="en-US" sz="1600" dirty="0">
                <a:solidFill>
                  <a:srgbClr val="CBD5E1"/>
                </a:solidFill>
                <a:latin typeface="Calibri" pitchFamily="34" charset="0"/>
                <a:ea typeface="Calibri" pitchFamily="34" charset="-122"/>
                <a:cs typeface="Calibri" pitchFamily="34" charset="-120"/>
              </a:rPr>
              <a:t>Hugo Lima</a:t>
            </a:r>
          </a:p>
          <a:p>
            <a:pPr marL="0" indent="0">
              <a:buNone/>
            </a:pPr>
            <a:r>
              <a:rPr lang="en-US" sz="1600" dirty="0">
                <a:solidFill>
                  <a:srgbClr val="CBD5E1"/>
                </a:solidFill>
                <a:latin typeface="Calibri" pitchFamily="34" charset="0"/>
                <a:ea typeface="Calibri" pitchFamily="34" charset="-122"/>
                <a:cs typeface="Calibri" pitchFamily="34" charset="-120"/>
              </a:rPr>
              <a:t>Maria Teresa Neves</a:t>
            </a:r>
          </a:p>
          <a:p>
            <a:pPr marL="0" indent="0">
              <a:buNone/>
            </a:pPr>
            <a:r>
              <a:rPr lang="en-US" sz="1600" dirty="0">
                <a:solidFill>
                  <a:srgbClr val="CBD5E1"/>
                </a:solidFill>
                <a:latin typeface="Calibri" pitchFamily="34" charset="0"/>
                <a:ea typeface="Calibri" pitchFamily="34" charset="-122"/>
                <a:cs typeface="Calibri" pitchFamily="34" charset="-120"/>
              </a:rPr>
              <a:t>Olívia Rua</a:t>
            </a:r>
          </a:p>
          <a:p>
            <a:pPr marL="0" indent="0">
              <a:buNone/>
            </a:pPr>
            <a:r>
              <a:rPr lang="en-US" sz="1600" dirty="0">
                <a:solidFill>
                  <a:srgbClr val="CBD5E1"/>
                </a:solidFill>
                <a:latin typeface="Calibri" pitchFamily="34" charset="0"/>
                <a:ea typeface="Calibri" pitchFamily="34" charset="-122"/>
                <a:cs typeface="Calibri" pitchFamily="34" charset="-120"/>
              </a:rPr>
              <a:t>Pedro Martim Lota</a:t>
            </a:r>
          </a:p>
          <a:p>
            <a:pPr marL="0" indent="0">
              <a:buNone/>
            </a:pPr>
            <a:endParaRPr lang="en-US" sz="1600" dirty="0"/>
          </a:p>
        </p:txBody>
      </p:sp>
      <p:sp>
        <p:nvSpPr>
          <p:cNvPr id="5" name="Text 3"/>
          <p:cNvSpPr txBox="1"/>
          <p:nvPr/>
        </p:nvSpPr>
        <p:spPr>
          <a:xfrm>
            <a:off x="731520" y="5669280"/>
            <a:ext cx="105156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Executive Master in Business Analytics &amp; AI · Porto Business School · 1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Which customers will miss their next payment?</a:t>
            </a:r>
            <a:endParaRPr lang="en-US" sz="3200" dirty="0"/>
          </a:p>
        </p:txBody>
      </p:sp>
      <p:sp>
        <p:nvSpPr>
          <p:cNvPr id="4" name="Shape 2"/>
          <p:cNvSpPr/>
          <p:nvPr/>
        </p:nvSpPr>
        <p:spPr>
          <a:xfrm>
            <a:off x="548640" y="1920240"/>
            <a:ext cx="731520" cy="731520"/>
          </a:xfrm>
          <a:prstGeom prst="ellipse">
            <a:avLst/>
          </a:prstGeom>
          <a:solidFill>
            <a:srgbClr val="E5484D"/>
          </a:solidFill>
          <a:ln w="12700">
            <a:solidFill>
              <a:srgbClr val="E5484D"/>
            </a:solidFill>
            <a:prstDash val="solid"/>
          </a:ln>
        </p:spPr>
        <p:txBody>
          <a:bodyPr/>
          <a:lstStyle/>
          <a:p>
            <a:endParaRPr lang="pt-PT"/>
          </a:p>
        </p:txBody>
      </p:sp>
      <p:pic>
        <p:nvPicPr>
          <p:cNvPr id="5" name="Image 0" descr="preencoded.png"/>
          <p:cNvPicPr>
            <a:picLocks noChangeAspect="1"/>
          </p:cNvPicPr>
          <p:nvPr/>
        </p:nvPicPr>
        <p:blipFill>
          <a:blip r:embed="rId3"/>
          <a:stretch>
            <a:fillRect/>
          </a:stretch>
        </p:blipFill>
        <p:spPr>
          <a:xfrm>
            <a:off x="709574" y="2081174"/>
            <a:ext cx="409651" cy="409651"/>
          </a:xfrm>
          <a:prstGeom prst="rect">
            <a:avLst/>
          </a:prstGeom>
        </p:spPr>
      </p:pic>
      <p:sp>
        <p:nvSpPr>
          <p:cNvPr id="6" name="Text 3"/>
          <p:cNvSpPr txBox="1"/>
          <p:nvPr/>
        </p:nvSpPr>
        <p:spPr>
          <a:xfrm>
            <a:off x="1554480" y="1920240"/>
            <a:ext cx="5669280" cy="731520"/>
          </a:xfrm>
          <a:prstGeom prst="rect">
            <a:avLst/>
          </a:prstGeom>
          <a:noFill/>
          <a:ln/>
        </p:spPr>
        <p:txBody>
          <a:bodyPr wrap="square" lIns="0" tIns="0" rIns="0" bIns="0" rtlCol="0" anchor="ctr"/>
          <a:lstStyle/>
          <a:p>
            <a:pPr marL="0" indent="0">
              <a:buNone/>
            </a:pPr>
            <a:r>
              <a:rPr lang="en-US" sz="1900" dirty="0">
                <a:solidFill>
                  <a:srgbClr val="1E293B"/>
                </a:solidFill>
                <a:latin typeface="Calibri" pitchFamily="34" charset="0"/>
                <a:ea typeface="Calibri" pitchFamily="34" charset="-122"/>
                <a:cs typeface="Calibri" pitchFamily="34" charset="-120"/>
              </a:rPr>
              <a:t>Banks often find out about a default when it is too late to help.</a:t>
            </a:r>
            <a:endParaRPr lang="en-US" sz="1900" dirty="0"/>
          </a:p>
        </p:txBody>
      </p:sp>
      <p:sp>
        <p:nvSpPr>
          <p:cNvPr id="7" name="Shape 4"/>
          <p:cNvSpPr/>
          <p:nvPr/>
        </p:nvSpPr>
        <p:spPr>
          <a:xfrm>
            <a:off x="548640" y="3108960"/>
            <a:ext cx="731520" cy="731520"/>
          </a:xfrm>
          <a:prstGeom prst="ellipse">
            <a:avLst/>
          </a:prstGeom>
          <a:solidFill>
            <a:srgbClr val="0F766E"/>
          </a:solidFill>
          <a:ln w="12700">
            <a:solidFill>
              <a:srgbClr val="0F766E"/>
            </a:solidFill>
            <a:prstDash val="solid"/>
          </a:ln>
        </p:spPr>
        <p:txBody>
          <a:bodyPr/>
          <a:lstStyle/>
          <a:p>
            <a:endParaRPr lang="pt-PT"/>
          </a:p>
        </p:txBody>
      </p:sp>
      <p:pic>
        <p:nvPicPr>
          <p:cNvPr id="8" name="Image 1" descr="preencoded.png"/>
          <p:cNvPicPr>
            <a:picLocks noChangeAspect="1"/>
          </p:cNvPicPr>
          <p:nvPr/>
        </p:nvPicPr>
        <p:blipFill>
          <a:blip r:embed="rId4"/>
          <a:stretch>
            <a:fillRect/>
          </a:stretch>
        </p:blipFill>
        <p:spPr>
          <a:xfrm>
            <a:off x="709574" y="3269894"/>
            <a:ext cx="409651" cy="409651"/>
          </a:xfrm>
          <a:prstGeom prst="rect">
            <a:avLst/>
          </a:prstGeom>
        </p:spPr>
      </p:pic>
      <p:sp>
        <p:nvSpPr>
          <p:cNvPr id="9" name="Text 5"/>
          <p:cNvSpPr txBox="1"/>
          <p:nvPr/>
        </p:nvSpPr>
        <p:spPr>
          <a:xfrm>
            <a:off x="1554480" y="3108960"/>
            <a:ext cx="5669280" cy="731520"/>
          </a:xfrm>
          <a:prstGeom prst="rect">
            <a:avLst/>
          </a:prstGeom>
          <a:noFill/>
          <a:ln/>
        </p:spPr>
        <p:txBody>
          <a:bodyPr wrap="square" lIns="0" tIns="0" rIns="0" bIns="0" rtlCol="0" anchor="ctr"/>
          <a:lstStyle/>
          <a:p>
            <a:pPr marL="0" indent="0">
              <a:buNone/>
            </a:pPr>
            <a:r>
              <a:rPr lang="en-US" sz="1900" dirty="0">
                <a:solidFill>
                  <a:srgbClr val="1E293B"/>
                </a:solidFill>
                <a:latin typeface="Calibri" pitchFamily="34" charset="0"/>
                <a:ea typeface="Calibri" pitchFamily="34" charset="-122"/>
                <a:cs typeface="Calibri" pitchFamily="34" charset="-120"/>
              </a:rPr>
              <a:t>We predict the probability that each customer defaults next month.</a:t>
            </a:r>
            <a:endParaRPr lang="en-US" sz="1900" dirty="0"/>
          </a:p>
        </p:txBody>
      </p:sp>
      <p:sp>
        <p:nvSpPr>
          <p:cNvPr id="10" name="Shape 6"/>
          <p:cNvSpPr/>
          <p:nvPr/>
        </p:nvSpPr>
        <p:spPr>
          <a:xfrm>
            <a:off x="548640" y="4297680"/>
            <a:ext cx="731520" cy="731520"/>
          </a:xfrm>
          <a:prstGeom prst="ellipse">
            <a:avLst/>
          </a:prstGeom>
          <a:solidFill>
            <a:srgbClr val="2563EB"/>
          </a:solidFill>
          <a:ln w="12700">
            <a:solidFill>
              <a:srgbClr val="2563EB"/>
            </a:solidFill>
            <a:prstDash val="solid"/>
          </a:ln>
        </p:spPr>
        <p:txBody>
          <a:bodyPr/>
          <a:lstStyle/>
          <a:p>
            <a:endParaRPr lang="pt-PT"/>
          </a:p>
        </p:txBody>
      </p:sp>
      <p:pic>
        <p:nvPicPr>
          <p:cNvPr id="11" name="Image 2" descr="preencoded.png"/>
          <p:cNvPicPr>
            <a:picLocks noChangeAspect="1"/>
          </p:cNvPicPr>
          <p:nvPr/>
        </p:nvPicPr>
        <p:blipFill>
          <a:blip r:embed="rId5"/>
          <a:stretch>
            <a:fillRect/>
          </a:stretch>
        </p:blipFill>
        <p:spPr>
          <a:xfrm>
            <a:off x="709574" y="4458614"/>
            <a:ext cx="409651" cy="409651"/>
          </a:xfrm>
          <a:prstGeom prst="rect">
            <a:avLst/>
          </a:prstGeom>
        </p:spPr>
      </p:pic>
      <p:sp>
        <p:nvSpPr>
          <p:cNvPr id="12" name="Text 7"/>
          <p:cNvSpPr txBox="1"/>
          <p:nvPr/>
        </p:nvSpPr>
        <p:spPr>
          <a:xfrm>
            <a:off x="1554480" y="4297680"/>
            <a:ext cx="5669280" cy="731520"/>
          </a:xfrm>
          <a:prstGeom prst="rect">
            <a:avLst/>
          </a:prstGeom>
          <a:noFill/>
          <a:ln/>
        </p:spPr>
        <p:txBody>
          <a:bodyPr wrap="square" lIns="0" tIns="0" rIns="0" bIns="0" rtlCol="0" anchor="ctr"/>
          <a:lstStyle/>
          <a:p>
            <a:pPr marL="0" indent="0">
              <a:buNone/>
            </a:pPr>
            <a:r>
              <a:rPr lang="en-US" sz="1900" dirty="0">
                <a:solidFill>
                  <a:srgbClr val="1E293B"/>
                </a:solidFill>
                <a:latin typeface="Calibri" pitchFamily="34" charset="0"/>
                <a:ea typeface="Calibri" pitchFamily="34" charset="-122"/>
                <a:cs typeface="Calibri" pitchFamily="34" charset="-120"/>
              </a:rPr>
              <a:t>An analyst reviews the flagged customers. The model does not decide.</a:t>
            </a:r>
            <a:endParaRPr lang="en-US" sz="1900" dirty="0"/>
          </a:p>
        </p:txBody>
      </p:sp>
      <p:sp>
        <p:nvSpPr>
          <p:cNvPr id="13" name="Shape 8"/>
          <p:cNvSpPr/>
          <p:nvPr/>
        </p:nvSpPr>
        <p:spPr>
          <a:xfrm>
            <a:off x="7772400" y="1920240"/>
            <a:ext cx="3840480" cy="3108960"/>
          </a:xfrm>
          <a:prstGeom prst="roundRect">
            <a:avLst>
              <a:gd name="adj" fmla="val 3529"/>
            </a:avLst>
          </a:prstGeom>
          <a:solidFill>
            <a:srgbClr val="F1F5F9"/>
          </a:solidFill>
          <a:ln w="12700">
            <a:solidFill>
              <a:srgbClr val="F1F5F9"/>
            </a:solidFill>
            <a:prstDash val="solid"/>
          </a:ln>
        </p:spPr>
        <p:txBody>
          <a:bodyPr/>
          <a:lstStyle/>
          <a:p>
            <a:endParaRPr lang="pt-PT"/>
          </a:p>
        </p:txBody>
      </p:sp>
      <p:sp>
        <p:nvSpPr>
          <p:cNvPr id="14" name="Text 9"/>
          <p:cNvSpPr txBox="1"/>
          <p:nvPr/>
        </p:nvSpPr>
        <p:spPr>
          <a:xfrm>
            <a:off x="8092440" y="2148840"/>
            <a:ext cx="3200400" cy="274320"/>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DATASET</a:t>
            </a:r>
            <a:endParaRPr lang="en-US" sz="1200" dirty="0"/>
          </a:p>
        </p:txBody>
      </p:sp>
      <p:sp>
        <p:nvSpPr>
          <p:cNvPr id="15" name="Text 10"/>
          <p:cNvSpPr txBox="1"/>
          <p:nvPr/>
        </p:nvSpPr>
        <p:spPr>
          <a:xfrm>
            <a:off x="8092440" y="2468880"/>
            <a:ext cx="3291840" cy="59436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Default of Credit Card Clients (Kaggle / UCI)</a:t>
            </a:r>
            <a:endParaRPr lang="en-US" sz="1500" dirty="0"/>
          </a:p>
        </p:txBody>
      </p:sp>
      <p:sp>
        <p:nvSpPr>
          <p:cNvPr id="16" name="Text 11"/>
          <p:cNvSpPr txBox="1"/>
          <p:nvPr/>
        </p:nvSpPr>
        <p:spPr>
          <a:xfrm>
            <a:off x="809244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30,000 customers, Taiwan 2005</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23 features: credit limit, age, 6 months of payments and bills</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Target: default next month (yes / no)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HOW WE BUILT IT</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Our pipeline and the tools we used</a:t>
            </a:r>
            <a:endParaRPr lang="en-US" sz="3200" dirty="0"/>
          </a:p>
        </p:txBody>
      </p:sp>
      <p:sp>
        <p:nvSpPr>
          <p:cNvPr id="4" name="Shape 2"/>
          <p:cNvSpPr/>
          <p:nvPr/>
        </p:nvSpPr>
        <p:spPr>
          <a:xfrm>
            <a:off x="881743"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5" name="Image 0" descr="preencoded.png"/>
          <p:cNvPicPr>
            <a:picLocks noChangeAspect="1"/>
          </p:cNvPicPr>
          <p:nvPr/>
        </p:nvPicPr>
        <p:blipFill>
          <a:blip r:embed="rId3"/>
          <a:stretch>
            <a:fillRect/>
          </a:stretch>
        </p:blipFill>
        <p:spPr>
          <a:xfrm>
            <a:off x="1082911" y="2029968"/>
            <a:ext cx="512064" cy="512064"/>
          </a:xfrm>
          <a:prstGeom prst="rect">
            <a:avLst/>
          </a:prstGeom>
        </p:spPr>
      </p:pic>
      <p:sp>
        <p:nvSpPr>
          <p:cNvPr id="6" name="Text 3"/>
          <p:cNvSpPr txBox="1"/>
          <p:nvPr/>
        </p:nvSpPr>
        <p:spPr>
          <a:xfrm>
            <a:off x="576072"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1. Data</a:t>
            </a:r>
            <a:endParaRPr lang="en-US" sz="1600" dirty="0"/>
          </a:p>
        </p:txBody>
      </p:sp>
      <p:sp>
        <p:nvSpPr>
          <p:cNvPr id="7" name="Text 4"/>
          <p:cNvSpPr txBox="1"/>
          <p:nvPr/>
        </p:nvSpPr>
        <p:spPr>
          <a:xfrm>
            <a:off x="576072"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Explore &amp; split</a:t>
            </a:r>
            <a:endParaRPr lang="en-US" sz="1300" dirty="0"/>
          </a:p>
        </p:txBody>
      </p:sp>
      <p:sp>
        <p:nvSpPr>
          <p:cNvPr id="8" name="Shape 5"/>
          <p:cNvSpPr/>
          <p:nvPr/>
        </p:nvSpPr>
        <p:spPr>
          <a:xfrm>
            <a:off x="1869295" y="2286000"/>
            <a:ext cx="519902" cy="0"/>
          </a:xfrm>
          <a:prstGeom prst="line">
            <a:avLst/>
          </a:prstGeom>
          <a:noFill/>
          <a:ln w="19050">
            <a:solidFill>
              <a:srgbClr val="64748B"/>
            </a:solidFill>
            <a:prstDash val="solid"/>
            <a:tailEnd type="triangle"/>
          </a:ln>
        </p:spPr>
        <p:txBody>
          <a:bodyPr/>
          <a:lstStyle/>
          <a:p>
            <a:endParaRPr lang="pt-PT"/>
          </a:p>
        </p:txBody>
      </p:sp>
      <p:sp>
        <p:nvSpPr>
          <p:cNvPr id="9" name="Shape 6"/>
          <p:cNvSpPr/>
          <p:nvPr/>
        </p:nvSpPr>
        <p:spPr>
          <a:xfrm>
            <a:off x="2462349"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10" name="Image 1" descr="preencoded.png"/>
          <p:cNvPicPr>
            <a:picLocks noChangeAspect="1"/>
          </p:cNvPicPr>
          <p:nvPr/>
        </p:nvPicPr>
        <p:blipFill>
          <a:blip r:embed="rId4"/>
          <a:stretch>
            <a:fillRect/>
          </a:stretch>
        </p:blipFill>
        <p:spPr>
          <a:xfrm>
            <a:off x="2663517" y="2029968"/>
            <a:ext cx="512064" cy="512064"/>
          </a:xfrm>
          <a:prstGeom prst="rect">
            <a:avLst/>
          </a:prstGeom>
        </p:spPr>
      </p:pic>
      <p:sp>
        <p:nvSpPr>
          <p:cNvPr id="11" name="Text 7"/>
          <p:cNvSpPr txBox="1"/>
          <p:nvPr/>
        </p:nvSpPr>
        <p:spPr>
          <a:xfrm>
            <a:off x="2156678"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2. Train</a:t>
            </a:r>
            <a:endParaRPr lang="en-US" sz="1600" dirty="0"/>
          </a:p>
        </p:txBody>
      </p:sp>
      <p:sp>
        <p:nvSpPr>
          <p:cNvPr id="12" name="Text 8"/>
          <p:cNvSpPr txBox="1"/>
          <p:nvPr/>
        </p:nvSpPr>
        <p:spPr>
          <a:xfrm>
            <a:off x="2156678"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2 models + fairness</a:t>
            </a:r>
            <a:endParaRPr lang="en-US" sz="1300" dirty="0"/>
          </a:p>
        </p:txBody>
      </p:sp>
      <p:sp>
        <p:nvSpPr>
          <p:cNvPr id="13" name="Shape 9"/>
          <p:cNvSpPr/>
          <p:nvPr/>
        </p:nvSpPr>
        <p:spPr>
          <a:xfrm>
            <a:off x="3449901" y="2286000"/>
            <a:ext cx="519902" cy="0"/>
          </a:xfrm>
          <a:prstGeom prst="line">
            <a:avLst/>
          </a:prstGeom>
          <a:noFill/>
          <a:ln w="19050">
            <a:solidFill>
              <a:srgbClr val="64748B"/>
            </a:solidFill>
            <a:prstDash val="solid"/>
            <a:tailEnd type="triangle"/>
          </a:ln>
        </p:spPr>
        <p:txBody>
          <a:bodyPr/>
          <a:lstStyle/>
          <a:p>
            <a:endParaRPr lang="pt-PT"/>
          </a:p>
        </p:txBody>
      </p:sp>
      <p:sp>
        <p:nvSpPr>
          <p:cNvPr id="14" name="Shape 10"/>
          <p:cNvSpPr/>
          <p:nvPr/>
        </p:nvSpPr>
        <p:spPr>
          <a:xfrm>
            <a:off x="4042954"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15" name="Image 2" descr="preencoded.png"/>
          <p:cNvPicPr>
            <a:picLocks noChangeAspect="1"/>
          </p:cNvPicPr>
          <p:nvPr/>
        </p:nvPicPr>
        <p:blipFill>
          <a:blip r:embed="rId5"/>
          <a:stretch>
            <a:fillRect/>
          </a:stretch>
        </p:blipFill>
        <p:spPr>
          <a:xfrm>
            <a:off x="4244122" y="2029968"/>
            <a:ext cx="512064" cy="512064"/>
          </a:xfrm>
          <a:prstGeom prst="rect">
            <a:avLst/>
          </a:prstGeom>
        </p:spPr>
      </p:pic>
      <p:sp>
        <p:nvSpPr>
          <p:cNvPr id="16" name="Text 11"/>
          <p:cNvSpPr txBox="1"/>
          <p:nvPr/>
        </p:nvSpPr>
        <p:spPr>
          <a:xfrm>
            <a:off x="3737283"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3. Track</a:t>
            </a:r>
            <a:endParaRPr lang="en-US" sz="1600" dirty="0"/>
          </a:p>
        </p:txBody>
      </p:sp>
      <p:sp>
        <p:nvSpPr>
          <p:cNvPr id="17" name="Text 12"/>
          <p:cNvSpPr txBox="1"/>
          <p:nvPr/>
        </p:nvSpPr>
        <p:spPr>
          <a:xfrm>
            <a:off x="3737283"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Log every run</a:t>
            </a:r>
            <a:endParaRPr lang="en-US" sz="1300" dirty="0"/>
          </a:p>
        </p:txBody>
      </p:sp>
      <p:sp>
        <p:nvSpPr>
          <p:cNvPr id="18" name="Shape 13"/>
          <p:cNvSpPr/>
          <p:nvPr/>
        </p:nvSpPr>
        <p:spPr>
          <a:xfrm>
            <a:off x="5030506" y="2286000"/>
            <a:ext cx="519902" cy="0"/>
          </a:xfrm>
          <a:prstGeom prst="line">
            <a:avLst/>
          </a:prstGeom>
          <a:noFill/>
          <a:ln w="19050">
            <a:solidFill>
              <a:srgbClr val="64748B"/>
            </a:solidFill>
            <a:prstDash val="solid"/>
            <a:tailEnd type="triangle"/>
          </a:ln>
        </p:spPr>
        <p:txBody>
          <a:bodyPr/>
          <a:lstStyle/>
          <a:p>
            <a:endParaRPr lang="pt-PT"/>
          </a:p>
        </p:txBody>
      </p:sp>
      <p:sp>
        <p:nvSpPr>
          <p:cNvPr id="19" name="Shape 14"/>
          <p:cNvSpPr/>
          <p:nvPr/>
        </p:nvSpPr>
        <p:spPr>
          <a:xfrm>
            <a:off x="5623560"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20" name="Image 3" descr="preencoded.png"/>
          <p:cNvPicPr>
            <a:picLocks noChangeAspect="1"/>
          </p:cNvPicPr>
          <p:nvPr/>
        </p:nvPicPr>
        <p:blipFill>
          <a:blip r:embed="rId6"/>
          <a:stretch>
            <a:fillRect/>
          </a:stretch>
        </p:blipFill>
        <p:spPr>
          <a:xfrm>
            <a:off x="5824728" y="2029968"/>
            <a:ext cx="512064" cy="512064"/>
          </a:xfrm>
          <a:prstGeom prst="rect">
            <a:avLst/>
          </a:prstGeom>
        </p:spPr>
      </p:pic>
      <p:sp>
        <p:nvSpPr>
          <p:cNvPr id="21" name="Text 15"/>
          <p:cNvSpPr txBox="1"/>
          <p:nvPr/>
        </p:nvSpPr>
        <p:spPr>
          <a:xfrm>
            <a:off x="5317889"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4. Register</a:t>
            </a:r>
            <a:endParaRPr lang="en-US" sz="1600" dirty="0"/>
          </a:p>
        </p:txBody>
      </p:sp>
      <p:sp>
        <p:nvSpPr>
          <p:cNvPr id="22" name="Text 16"/>
          <p:cNvSpPr txBox="1"/>
          <p:nvPr/>
        </p:nvSpPr>
        <p:spPr>
          <a:xfrm>
            <a:off x="5317889"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Only if better</a:t>
            </a:r>
            <a:endParaRPr lang="en-US" sz="1300" dirty="0"/>
          </a:p>
        </p:txBody>
      </p:sp>
      <p:sp>
        <p:nvSpPr>
          <p:cNvPr id="23" name="Shape 17"/>
          <p:cNvSpPr/>
          <p:nvPr/>
        </p:nvSpPr>
        <p:spPr>
          <a:xfrm>
            <a:off x="6611112" y="2286000"/>
            <a:ext cx="519902" cy="0"/>
          </a:xfrm>
          <a:prstGeom prst="line">
            <a:avLst/>
          </a:prstGeom>
          <a:noFill/>
          <a:ln w="19050">
            <a:solidFill>
              <a:srgbClr val="64748B"/>
            </a:solidFill>
            <a:prstDash val="solid"/>
            <a:tailEnd type="triangle"/>
          </a:ln>
        </p:spPr>
        <p:txBody>
          <a:bodyPr/>
          <a:lstStyle/>
          <a:p>
            <a:endParaRPr lang="pt-PT"/>
          </a:p>
        </p:txBody>
      </p:sp>
      <p:sp>
        <p:nvSpPr>
          <p:cNvPr id="24" name="Shape 18"/>
          <p:cNvSpPr/>
          <p:nvPr/>
        </p:nvSpPr>
        <p:spPr>
          <a:xfrm>
            <a:off x="7204166"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25" name="Image 4" descr="preencoded.png"/>
          <p:cNvPicPr>
            <a:picLocks noChangeAspect="1"/>
          </p:cNvPicPr>
          <p:nvPr/>
        </p:nvPicPr>
        <p:blipFill>
          <a:blip r:embed="rId7"/>
          <a:stretch>
            <a:fillRect/>
          </a:stretch>
        </p:blipFill>
        <p:spPr>
          <a:xfrm>
            <a:off x="7405334" y="2029968"/>
            <a:ext cx="512064" cy="512064"/>
          </a:xfrm>
          <a:prstGeom prst="rect">
            <a:avLst/>
          </a:prstGeom>
        </p:spPr>
      </p:pic>
      <p:sp>
        <p:nvSpPr>
          <p:cNvPr id="26" name="Text 19"/>
          <p:cNvSpPr txBox="1"/>
          <p:nvPr/>
        </p:nvSpPr>
        <p:spPr>
          <a:xfrm>
            <a:off x="6898495"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5. Serve</a:t>
            </a:r>
            <a:endParaRPr lang="en-US" sz="1600" dirty="0"/>
          </a:p>
        </p:txBody>
      </p:sp>
      <p:sp>
        <p:nvSpPr>
          <p:cNvPr id="27" name="Text 20"/>
          <p:cNvSpPr txBox="1"/>
          <p:nvPr/>
        </p:nvSpPr>
        <p:spPr>
          <a:xfrm>
            <a:off x="6898495"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Prediction API</a:t>
            </a:r>
            <a:endParaRPr lang="en-US" sz="1300" dirty="0"/>
          </a:p>
        </p:txBody>
      </p:sp>
      <p:sp>
        <p:nvSpPr>
          <p:cNvPr id="28" name="Shape 21"/>
          <p:cNvSpPr/>
          <p:nvPr/>
        </p:nvSpPr>
        <p:spPr>
          <a:xfrm>
            <a:off x="8191718" y="2286000"/>
            <a:ext cx="519902" cy="0"/>
          </a:xfrm>
          <a:prstGeom prst="line">
            <a:avLst/>
          </a:prstGeom>
          <a:noFill/>
          <a:ln w="19050">
            <a:solidFill>
              <a:srgbClr val="64748B"/>
            </a:solidFill>
            <a:prstDash val="solid"/>
            <a:tailEnd type="triangle"/>
          </a:ln>
        </p:spPr>
        <p:txBody>
          <a:bodyPr/>
          <a:lstStyle/>
          <a:p>
            <a:endParaRPr lang="pt-PT"/>
          </a:p>
        </p:txBody>
      </p:sp>
      <p:sp>
        <p:nvSpPr>
          <p:cNvPr id="29" name="Shape 22"/>
          <p:cNvSpPr/>
          <p:nvPr/>
        </p:nvSpPr>
        <p:spPr>
          <a:xfrm>
            <a:off x="8784771"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30" name="Image 5" descr="preencoded.png"/>
          <p:cNvPicPr>
            <a:picLocks noChangeAspect="1"/>
          </p:cNvPicPr>
          <p:nvPr/>
        </p:nvPicPr>
        <p:blipFill>
          <a:blip r:embed="rId8"/>
          <a:stretch>
            <a:fillRect/>
          </a:stretch>
        </p:blipFill>
        <p:spPr>
          <a:xfrm>
            <a:off x="8985939" y="2029968"/>
            <a:ext cx="512064" cy="512064"/>
          </a:xfrm>
          <a:prstGeom prst="rect">
            <a:avLst/>
          </a:prstGeom>
        </p:spPr>
      </p:pic>
      <p:sp>
        <p:nvSpPr>
          <p:cNvPr id="31" name="Text 23"/>
          <p:cNvSpPr txBox="1"/>
          <p:nvPr/>
        </p:nvSpPr>
        <p:spPr>
          <a:xfrm>
            <a:off x="8479101"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6. Package</a:t>
            </a:r>
            <a:endParaRPr lang="en-US" sz="1600" dirty="0"/>
          </a:p>
        </p:txBody>
      </p:sp>
      <p:sp>
        <p:nvSpPr>
          <p:cNvPr id="32" name="Text 24"/>
          <p:cNvSpPr txBox="1"/>
          <p:nvPr/>
        </p:nvSpPr>
        <p:spPr>
          <a:xfrm>
            <a:off x="8479101"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Run anywhere</a:t>
            </a:r>
            <a:endParaRPr lang="en-US" sz="1300" dirty="0"/>
          </a:p>
        </p:txBody>
      </p:sp>
      <p:sp>
        <p:nvSpPr>
          <p:cNvPr id="33" name="Shape 25"/>
          <p:cNvSpPr/>
          <p:nvPr/>
        </p:nvSpPr>
        <p:spPr>
          <a:xfrm>
            <a:off x="9772323" y="2286000"/>
            <a:ext cx="519902" cy="0"/>
          </a:xfrm>
          <a:prstGeom prst="line">
            <a:avLst/>
          </a:prstGeom>
          <a:noFill/>
          <a:ln w="19050">
            <a:solidFill>
              <a:srgbClr val="64748B"/>
            </a:solidFill>
            <a:prstDash val="dash"/>
            <a:tailEnd type="triangle"/>
          </a:ln>
        </p:spPr>
        <p:txBody>
          <a:bodyPr/>
          <a:lstStyle/>
          <a:p>
            <a:endParaRPr lang="pt-PT"/>
          </a:p>
        </p:txBody>
      </p:sp>
      <p:sp>
        <p:nvSpPr>
          <p:cNvPr id="34" name="Shape 26"/>
          <p:cNvSpPr/>
          <p:nvPr/>
        </p:nvSpPr>
        <p:spPr>
          <a:xfrm>
            <a:off x="10365377" y="1828800"/>
            <a:ext cx="914400" cy="914400"/>
          </a:xfrm>
          <a:prstGeom prst="ellipse">
            <a:avLst/>
          </a:prstGeom>
          <a:solidFill>
            <a:srgbClr val="F1F5F9"/>
          </a:solidFill>
          <a:ln w="12700">
            <a:solidFill>
              <a:srgbClr val="F1F5F9"/>
            </a:solidFill>
            <a:prstDash val="solid"/>
          </a:ln>
        </p:spPr>
        <p:txBody>
          <a:bodyPr/>
          <a:lstStyle/>
          <a:p>
            <a:endParaRPr lang="pt-PT"/>
          </a:p>
        </p:txBody>
      </p:sp>
      <p:pic>
        <p:nvPicPr>
          <p:cNvPr id="35" name="Image 6" descr="preencoded.png"/>
          <p:cNvPicPr>
            <a:picLocks noChangeAspect="1"/>
          </p:cNvPicPr>
          <p:nvPr/>
        </p:nvPicPr>
        <p:blipFill>
          <a:blip r:embed="rId9"/>
          <a:stretch>
            <a:fillRect/>
          </a:stretch>
        </p:blipFill>
        <p:spPr>
          <a:xfrm>
            <a:off x="10566545" y="2029968"/>
            <a:ext cx="512064" cy="512064"/>
          </a:xfrm>
          <a:prstGeom prst="rect">
            <a:avLst/>
          </a:prstGeom>
        </p:spPr>
      </p:pic>
      <p:sp>
        <p:nvSpPr>
          <p:cNvPr id="36" name="Shape 27"/>
          <p:cNvSpPr/>
          <p:nvPr/>
        </p:nvSpPr>
        <p:spPr>
          <a:xfrm>
            <a:off x="10365377" y="1828800"/>
            <a:ext cx="914400" cy="914400"/>
          </a:xfrm>
          <a:prstGeom prst="ellipse">
            <a:avLst/>
          </a:prstGeom>
          <a:ln w="15875">
            <a:solidFill>
              <a:srgbClr val="64748B"/>
            </a:solidFill>
            <a:prstDash val="dash"/>
          </a:ln>
        </p:spPr>
        <p:txBody>
          <a:bodyPr/>
          <a:lstStyle/>
          <a:p>
            <a:endParaRPr lang="pt-PT"/>
          </a:p>
        </p:txBody>
      </p:sp>
      <p:sp>
        <p:nvSpPr>
          <p:cNvPr id="37" name="Text 28"/>
          <p:cNvSpPr txBox="1"/>
          <p:nvPr/>
        </p:nvSpPr>
        <p:spPr>
          <a:xfrm>
            <a:off x="10059706" y="2880360"/>
            <a:ext cx="1525742" cy="365760"/>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Monitor</a:t>
            </a:r>
            <a:endParaRPr lang="en-US" sz="1600" dirty="0"/>
          </a:p>
        </p:txBody>
      </p:sp>
      <p:sp>
        <p:nvSpPr>
          <p:cNvPr id="38" name="Text 29"/>
          <p:cNvSpPr txBox="1"/>
          <p:nvPr/>
        </p:nvSpPr>
        <p:spPr>
          <a:xfrm>
            <a:off x="10059706"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Not built yet</a:t>
            </a:r>
            <a:endParaRPr lang="en-US" sz="1300" dirty="0"/>
          </a:p>
        </p:txBody>
      </p:sp>
      <p:sp>
        <p:nvSpPr>
          <p:cNvPr id="39" name="Text 30"/>
          <p:cNvSpPr txBox="1"/>
          <p:nvPr/>
        </p:nvSpPr>
        <p:spPr>
          <a:xfrm>
            <a:off x="548640" y="3977640"/>
            <a:ext cx="3657600" cy="274320"/>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TOOLS</a:t>
            </a:r>
            <a:endParaRPr lang="en-US" sz="1200" dirty="0"/>
          </a:p>
        </p:txBody>
      </p:sp>
      <p:sp>
        <p:nvSpPr>
          <p:cNvPr id="40" name="Shape 31"/>
          <p:cNvSpPr/>
          <p:nvPr/>
        </p:nvSpPr>
        <p:spPr>
          <a:xfrm>
            <a:off x="548640" y="4297680"/>
            <a:ext cx="11064240" cy="1188720"/>
          </a:xfrm>
          <a:prstGeom prst="roundRect">
            <a:avLst>
              <a:gd name="adj" fmla="val 9231"/>
            </a:avLst>
          </a:prstGeom>
          <a:solidFill>
            <a:srgbClr val="0B1F33"/>
          </a:solidFill>
          <a:ln w="12700">
            <a:solidFill>
              <a:srgbClr val="0B1F33"/>
            </a:solidFill>
            <a:prstDash val="solid"/>
          </a:ln>
        </p:spPr>
        <p:txBody>
          <a:bodyPr/>
          <a:lstStyle/>
          <a:p>
            <a:endParaRPr lang="pt-PT"/>
          </a:p>
        </p:txBody>
      </p:sp>
      <p:sp>
        <p:nvSpPr>
          <p:cNvPr id="41" name="Text 32"/>
          <p:cNvSpPr txBox="1"/>
          <p:nvPr/>
        </p:nvSpPr>
        <p:spPr>
          <a:xfrm>
            <a:off x="594360"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pandas</a:t>
            </a:r>
            <a:endParaRPr lang="en-US" sz="1500" dirty="0"/>
          </a:p>
        </p:txBody>
      </p:sp>
      <p:sp>
        <p:nvSpPr>
          <p:cNvPr id="42" name="Text 33"/>
          <p:cNvSpPr txBox="1"/>
          <p:nvPr/>
        </p:nvSpPr>
        <p:spPr>
          <a:xfrm>
            <a:off x="2174966"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scikit-learn</a:t>
            </a:r>
            <a:endParaRPr lang="en-US" sz="1500" dirty="0"/>
          </a:p>
        </p:txBody>
      </p:sp>
      <p:sp>
        <p:nvSpPr>
          <p:cNvPr id="43" name="Shape 34"/>
          <p:cNvSpPr/>
          <p:nvPr/>
        </p:nvSpPr>
        <p:spPr>
          <a:xfrm>
            <a:off x="2129246" y="4526280"/>
            <a:ext cx="0" cy="731520"/>
          </a:xfrm>
          <a:prstGeom prst="line">
            <a:avLst/>
          </a:prstGeom>
          <a:noFill/>
          <a:ln w="12700">
            <a:solidFill>
              <a:srgbClr val="2B4A66"/>
            </a:solidFill>
            <a:prstDash val="solid"/>
          </a:ln>
        </p:spPr>
        <p:txBody>
          <a:bodyPr/>
          <a:lstStyle/>
          <a:p>
            <a:endParaRPr lang="pt-PT"/>
          </a:p>
        </p:txBody>
      </p:sp>
      <p:sp>
        <p:nvSpPr>
          <p:cNvPr id="44" name="Text 35"/>
          <p:cNvSpPr txBox="1"/>
          <p:nvPr/>
        </p:nvSpPr>
        <p:spPr>
          <a:xfrm>
            <a:off x="3755571"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MLflow</a:t>
            </a:r>
            <a:endParaRPr lang="en-US" sz="1500" dirty="0"/>
          </a:p>
          <a:p>
            <a:pPr marL="0" indent="0" algn="ctr">
              <a:buNone/>
            </a:pPr>
            <a:r>
              <a:rPr lang="en-US" sz="1200" dirty="0">
                <a:solidFill>
                  <a:srgbClr val="34D399"/>
                </a:solidFill>
                <a:latin typeface="Calibri" pitchFamily="34" charset="0"/>
                <a:ea typeface="Calibri" pitchFamily="34" charset="-122"/>
                <a:cs typeface="Calibri" pitchFamily="34" charset="-120"/>
              </a:rPr>
              <a:t>Tracking</a:t>
            </a:r>
            <a:endParaRPr lang="en-US" sz="1500" dirty="0"/>
          </a:p>
        </p:txBody>
      </p:sp>
      <p:sp>
        <p:nvSpPr>
          <p:cNvPr id="45" name="Shape 36"/>
          <p:cNvSpPr/>
          <p:nvPr/>
        </p:nvSpPr>
        <p:spPr>
          <a:xfrm>
            <a:off x="3709851" y="4526280"/>
            <a:ext cx="0" cy="731520"/>
          </a:xfrm>
          <a:prstGeom prst="line">
            <a:avLst/>
          </a:prstGeom>
          <a:noFill/>
          <a:ln w="12700">
            <a:solidFill>
              <a:srgbClr val="2B4A66"/>
            </a:solidFill>
            <a:prstDash val="solid"/>
          </a:ln>
        </p:spPr>
        <p:txBody>
          <a:bodyPr/>
          <a:lstStyle/>
          <a:p>
            <a:endParaRPr lang="pt-PT"/>
          </a:p>
        </p:txBody>
      </p:sp>
      <p:sp>
        <p:nvSpPr>
          <p:cNvPr id="46" name="Text 37"/>
          <p:cNvSpPr txBox="1"/>
          <p:nvPr/>
        </p:nvSpPr>
        <p:spPr>
          <a:xfrm>
            <a:off x="5336177"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MLflow</a:t>
            </a:r>
            <a:endParaRPr lang="en-US" sz="1500" dirty="0"/>
          </a:p>
          <a:p>
            <a:pPr marL="0" indent="0" algn="ctr">
              <a:buNone/>
            </a:pPr>
            <a:r>
              <a:rPr lang="en-US" sz="1200" dirty="0">
                <a:solidFill>
                  <a:srgbClr val="34D399"/>
                </a:solidFill>
                <a:latin typeface="Calibri" pitchFamily="34" charset="0"/>
                <a:ea typeface="Calibri" pitchFamily="34" charset="-122"/>
                <a:cs typeface="Calibri" pitchFamily="34" charset="-120"/>
              </a:rPr>
              <a:t>Model Registry</a:t>
            </a:r>
            <a:endParaRPr lang="en-US" sz="1500" dirty="0"/>
          </a:p>
        </p:txBody>
      </p:sp>
      <p:sp>
        <p:nvSpPr>
          <p:cNvPr id="47" name="Shape 38"/>
          <p:cNvSpPr/>
          <p:nvPr/>
        </p:nvSpPr>
        <p:spPr>
          <a:xfrm>
            <a:off x="5290457" y="4526280"/>
            <a:ext cx="0" cy="731520"/>
          </a:xfrm>
          <a:prstGeom prst="line">
            <a:avLst/>
          </a:prstGeom>
          <a:noFill/>
          <a:ln w="12700">
            <a:solidFill>
              <a:srgbClr val="2B4A66"/>
            </a:solidFill>
            <a:prstDash val="solid"/>
          </a:ln>
        </p:spPr>
        <p:txBody>
          <a:bodyPr/>
          <a:lstStyle/>
          <a:p>
            <a:endParaRPr lang="pt-PT"/>
          </a:p>
        </p:txBody>
      </p:sp>
      <p:sp>
        <p:nvSpPr>
          <p:cNvPr id="48" name="Text 39"/>
          <p:cNvSpPr txBox="1"/>
          <p:nvPr/>
        </p:nvSpPr>
        <p:spPr>
          <a:xfrm>
            <a:off x="6916783"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p:txBody>
      </p:sp>
      <p:sp>
        <p:nvSpPr>
          <p:cNvPr id="49" name="Shape 40"/>
          <p:cNvSpPr/>
          <p:nvPr/>
        </p:nvSpPr>
        <p:spPr>
          <a:xfrm>
            <a:off x="6871063" y="4526280"/>
            <a:ext cx="0" cy="731520"/>
          </a:xfrm>
          <a:prstGeom prst="line">
            <a:avLst/>
          </a:prstGeom>
          <a:noFill/>
          <a:ln w="12700">
            <a:solidFill>
              <a:srgbClr val="2B4A66"/>
            </a:solidFill>
            <a:prstDash val="solid"/>
          </a:ln>
        </p:spPr>
        <p:txBody>
          <a:bodyPr/>
          <a:lstStyle/>
          <a:p>
            <a:endParaRPr lang="pt-PT"/>
          </a:p>
        </p:txBody>
      </p:sp>
      <p:sp>
        <p:nvSpPr>
          <p:cNvPr id="50" name="Text 41"/>
          <p:cNvSpPr txBox="1"/>
          <p:nvPr/>
        </p:nvSpPr>
        <p:spPr>
          <a:xfrm>
            <a:off x="8497389"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Docker Compose</a:t>
            </a:r>
            <a:endParaRPr lang="en-US" sz="1500" dirty="0"/>
          </a:p>
          <a:p>
            <a:pPr marL="0" indent="0" algn="ctr">
              <a:buNone/>
            </a:pPr>
            <a:r>
              <a:rPr lang="en-US" sz="1200" dirty="0">
                <a:solidFill>
                  <a:srgbClr val="34D399"/>
                </a:solidFill>
                <a:latin typeface="Calibri" pitchFamily="34" charset="0"/>
                <a:ea typeface="Calibri" pitchFamily="34" charset="-122"/>
                <a:cs typeface="Calibri" pitchFamily="34" charset="-120"/>
              </a:rPr>
              <a:t>pytest · GitHub CI</a:t>
            </a:r>
            <a:endParaRPr lang="en-US" sz="1500" dirty="0"/>
          </a:p>
        </p:txBody>
      </p:sp>
      <p:sp>
        <p:nvSpPr>
          <p:cNvPr id="51" name="Shape 42"/>
          <p:cNvSpPr/>
          <p:nvPr/>
        </p:nvSpPr>
        <p:spPr>
          <a:xfrm>
            <a:off x="8451669" y="4526280"/>
            <a:ext cx="0" cy="731520"/>
          </a:xfrm>
          <a:prstGeom prst="line">
            <a:avLst/>
          </a:prstGeom>
          <a:noFill/>
          <a:ln w="12700">
            <a:solidFill>
              <a:srgbClr val="2B4A66"/>
            </a:solidFill>
            <a:prstDash val="solid"/>
          </a:ln>
        </p:spPr>
        <p:txBody>
          <a:bodyPr/>
          <a:lstStyle/>
          <a:p>
            <a:endParaRPr lang="pt-PT"/>
          </a:p>
        </p:txBody>
      </p:sp>
      <p:sp>
        <p:nvSpPr>
          <p:cNvPr id="52" name="Text 43"/>
          <p:cNvSpPr txBox="1"/>
          <p:nvPr/>
        </p:nvSpPr>
        <p:spPr>
          <a:xfrm>
            <a:off x="10077994" y="4297680"/>
            <a:ext cx="1489166" cy="1188720"/>
          </a:xfrm>
          <a:prstGeom prst="rect">
            <a:avLst/>
          </a:prstGeom>
          <a:noFill/>
          <a:ln/>
        </p:spPr>
        <p:txBody>
          <a:bodyPr wrap="square" lIns="0" tIns="0" rIns="0" bIns="0" rtlCol="0" anchor="ctr"/>
          <a:lstStyle/>
          <a:p>
            <a:pPr marL="0" indent="0" algn="ctr">
              <a:buNone/>
            </a:pPr>
            <a:r>
              <a:rPr lang="en-US" sz="1300" b="1" i="1" dirty="0">
                <a:solidFill>
                  <a:srgbClr val="94A3B8"/>
                </a:solidFill>
                <a:latin typeface="Calibri" pitchFamily="34" charset="0"/>
                <a:ea typeface="Calibri" pitchFamily="34" charset="-122"/>
                <a:cs typeface="Calibri" pitchFamily="34" charset="-120"/>
              </a:rPr>
              <a:t>e.g. Evidently</a:t>
            </a:r>
            <a:endParaRPr lang="en-US" sz="1300" dirty="0"/>
          </a:p>
        </p:txBody>
      </p:sp>
      <p:sp>
        <p:nvSpPr>
          <p:cNvPr id="53" name="Shape 44"/>
          <p:cNvSpPr/>
          <p:nvPr/>
        </p:nvSpPr>
        <p:spPr>
          <a:xfrm>
            <a:off x="10032274" y="4526280"/>
            <a:ext cx="0" cy="731520"/>
          </a:xfrm>
          <a:prstGeom prst="line">
            <a:avLst/>
          </a:prstGeom>
          <a:noFill/>
          <a:ln w="12700">
            <a:solidFill>
              <a:srgbClr val="2B4A66"/>
            </a:solidFill>
            <a:prstDash val="solid"/>
          </a:ln>
        </p:spPr>
        <p:txBody>
          <a:bodyPr/>
          <a:lstStyle/>
          <a:p>
            <a:endParaRPr lang="pt-PT"/>
          </a:p>
        </p:txBody>
      </p:sp>
      <p:sp>
        <p:nvSpPr>
          <p:cNvPr id="54" name="Text 45"/>
          <p:cNvSpPr txBox="1"/>
          <p:nvPr/>
        </p:nvSpPr>
        <p:spPr>
          <a:xfrm>
            <a:off x="548640" y="5715000"/>
            <a:ext cx="11064240" cy="36576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Steps 1 to 4 run with one command: docker compose --profile train run --rm trainer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1 · DATA</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Exploring the data</a:t>
            </a:r>
            <a:endParaRPr lang="en-US" sz="3000" dirty="0"/>
          </a:p>
        </p:txBody>
      </p:sp>
      <p:sp>
        <p:nvSpPr>
          <p:cNvPr id="29" name="Text 19"/>
          <p:cNvSpPr txBox="1"/>
          <p:nvPr/>
        </p:nvSpPr>
        <p:spPr>
          <a:xfrm>
            <a:off x="7616952" y="2407096"/>
            <a:ext cx="338328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Only 22% of customers default</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Understanding this is crucial to interpret metrics and design the model, as classes are imbalanced.</a:t>
            </a:r>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 We used a stratified split: train and test keep the same 22%</a:t>
            </a:r>
            <a:endParaRPr lang="en-US" sz="1600" dirty="0"/>
          </a:p>
        </p:txBody>
      </p:sp>
      <p:pic>
        <p:nvPicPr>
          <p:cNvPr id="31" name="Picture 30">
            <a:extLst>
              <a:ext uri="{FF2B5EF4-FFF2-40B4-BE49-F238E27FC236}">
                <a16:creationId xmlns:a16="http://schemas.microsoft.com/office/drawing/2014/main" id="{F2CE8976-A3DF-4EAE-D44D-0B439D83D686}"/>
              </a:ext>
            </a:extLst>
          </p:cNvPr>
          <p:cNvPicPr>
            <a:picLocks noChangeAspect="1"/>
          </p:cNvPicPr>
          <p:nvPr/>
        </p:nvPicPr>
        <p:blipFill>
          <a:blip r:embed="rId10"/>
          <a:stretch>
            <a:fillRect/>
          </a:stretch>
        </p:blipFill>
        <p:spPr>
          <a:xfrm>
            <a:off x="1030521" y="1877439"/>
            <a:ext cx="4572033" cy="44005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2 · TRAIN</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Training two models with one command</a:t>
            </a:r>
            <a:endParaRPr lang="en-US" sz="3000" dirty="0"/>
          </a:p>
        </p:txBody>
      </p:sp>
      <p:sp>
        <p:nvSpPr>
          <p:cNvPr id="29" name="Text 19"/>
          <p:cNvSpPr txBox="1"/>
          <p:nvPr/>
        </p:nvSpPr>
        <p:spPr>
          <a:xfrm>
            <a:off x="8229600" y="2240280"/>
            <a:ext cx="338328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Two models: Logistic Regression and Random Forest</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Cleaning, features and model are saved together in one pipeline, so the API prepares new data the same way</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Every run also checks fairness per group</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Fixed random seed: same results every time</a:t>
            </a:r>
            <a:endParaRPr lang="en-US" sz="1600" dirty="0"/>
          </a:p>
        </p:txBody>
      </p:sp>
      <p:sp>
        <p:nvSpPr>
          <p:cNvPr id="35" name="Shape 16">
            <a:extLst>
              <a:ext uri="{FF2B5EF4-FFF2-40B4-BE49-F238E27FC236}">
                <a16:creationId xmlns:a16="http://schemas.microsoft.com/office/drawing/2014/main" id="{249ED16E-B06B-AE1E-ABCB-FD31549063C3}"/>
              </a:ext>
            </a:extLst>
          </p:cNvPr>
          <p:cNvSpPr/>
          <p:nvPr/>
        </p:nvSpPr>
        <p:spPr>
          <a:xfrm>
            <a:off x="548640" y="2148840"/>
            <a:ext cx="7315200" cy="3383280"/>
          </a:xfrm>
          <a:prstGeom prst="roundRect">
            <a:avLst>
              <a:gd name="adj" fmla="val 2703"/>
            </a:avLst>
          </a:prstGeom>
          <a:solidFill>
            <a:srgbClr val="0C0C0C"/>
          </a:solidFill>
          <a:ln w="12700">
            <a:solidFill>
              <a:srgbClr val="0C0C0C"/>
            </a:solidFill>
            <a:prstDash val="solid"/>
          </a:ln>
        </p:spPr>
        <p:txBody>
          <a:bodyPr/>
          <a:lstStyle/>
          <a:p>
            <a:endParaRPr lang="pt-PT"/>
          </a:p>
        </p:txBody>
      </p:sp>
      <p:sp>
        <p:nvSpPr>
          <p:cNvPr id="37" name="Text 17">
            <a:extLst>
              <a:ext uri="{FF2B5EF4-FFF2-40B4-BE49-F238E27FC236}">
                <a16:creationId xmlns:a16="http://schemas.microsoft.com/office/drawing/2014/main" id="{43E43A8B-23B0-B872-7AB5-923E0552B72D}"/>
              </a:ext>
            </a:extLst>
          </p:cNvPr>
          <p:cNvSpPr txBox="1"/>
          <p:nvPr/>
        </p:nvSpPr>
        <p:spPr>
          <a:xfrm>
            <a:off x="822960" y="2331720"/>
            <a:ext cx="6766560" cy="365760"/>
          </a:xfrm>
          <a:prstGeom prst="rect">
            <a:avLst/>
          </a:prstGeom>
          <a:noFill/>
          <a:ln/>
        </p:spPr>
        <p:txBody>
          <a:bodyPr wrap="square" lIns="0" tIns="0" rIns="0" bIns="0" rtlCol="0" anchor="ctr"/>
          <a:lstStyle/>
          <a:p>
            <a:pPr marL="0" indent="0">
              <a:buNone/>
            </a:pPr>
            <a:r>
              <a:rPr lang="en-US" sz="1500" b="1" dirty="0">
                <a:solidFill>
                  <a:srgbClr val="34D399"/>
                </a:solidFill>
                <a:latin typeface="Courier New" pitchFamily="34" charset="0"/>
                <a:ea typeface="Courier New" pitchFamily="34" charset="-122"/>
                <a:cs typeface="Courier New" pitchFamily="34" charset="-120"/>
              </a:rPr>
              <a:t>&gt; docker compose --profile train run --rm trainer</a:t>
            </a:r>
            <a:endParaRPr lang="en-US" sz="1500" dirty="0"/>
          </a:p>
        </p:txBody>
      </p:sp>
      <p:pic>
        <p:nvPicPr>
          <p:cNvPr id="39" name="Image 7" descr="train_output.png">
            <a:extLst>
              <a:ext uri="{FF2B5EF4-FFF2-40B4-BE49-F238E27FC236}">
                <a16:creationId xmlns:a16="http://schemas.microsoft.com/office/drawing/2014/main" id="{9F67AB92-D022-657C-DA27-EB98965AD336}"/>
              </a:ext>
            </a:extLst>
          </p:cNvPr>
          <p:cNvPicPr>
            <a:picLocks noChangeAspect="1"/>
          </p:cNvPicPr>
          <p:nvPr/>
        </p:nvPicPr>
        <p:blipFill>
          <a:blip r:embed="rId10"/>
          <a:stretch>
            <a:fillRect/>
          </a:stretch>
        </p:blipFill>
        <p:spPr>
          <a:xfrm>
            <a:off x="822960" y="2880360"/>
            <a:ext cx="6766560" cy="21243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3 · TRACK</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Tracking the experiments in MLflow</a:t>
            </a:r>
            <a:endParaRPr lang="en-US" sz="3000" dirty="0"/>
          </a:p>
        </p:txBody>
      </p:sp>
      <p:sp>
        <p:nvSpPr>
          <p:cNvPr id="29" name="Text 19"/>
          <p:cNvSpPr txBox="1"/>
          <p:nvPr/>
        </p:nvSpPr>
        <p:spPr>
          <a:xfrm>
            <a:off x="548640" y="3429000"/>
            <a:ext cx="54864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Compare view: both runs side by side</a:t>
            </a:r>
            <a:endParaRPr lang="en-US" sz="1200" dirty="0"/>
          </a:p>
        </p:txBody>
      </p:sp>
      <p:pic>
        <p:nvPicPr>
          <p:cNvPr id="30" name="Image 8" descr="mlflow_compare_crop.png"/>
          <p:cNvPicPr>
            <a:picLocks noChangeAspect="1"/>
          </p:cNvPicPr>
          <p:nvPr/>
        </p:nvPicPr>
        <p:blipFill>
          <a:blip r:embed="rId10"/>
          <a:stretch>
            <a:fillRect/>
          </a:stretch>
        </p:blipFill>
        <p:spPr>
          <a:xfrm>
            <a:off x="548640" y="3749039"/>
            <a:ext cx="5405814" cy="2606040"/>
          </a:xfrm>
          <a:prstGeom prst="rect">
            <a:avLst/>
          </a:prstGeom>
        </p:spPr>
      </p:pic>
      <p:sp>
        <p:nvSpPr>
          <p:cNvPr id="31" name="Text 20"/>
          <p:cNvSpPr txBox="1"/>
          <p:nvPr/>
        </p:nvSpPr>
        <p:spPr>
          <a:xfrm>
            <a:off x="7680960" y="2240280"/>
            <a:ext cx="393192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Every training run is saved automatically</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Each run keeps its parameters, metrics, charts and the model file</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We can compare runs side by side instead of keeping notes</a:t>
            </a:r>
            <a:endParaRPr lang="en-US" sz="1600" dirty="0"/>
          </a:p>
        </p:txBody>
      </p:sp>
      <p:pic>
        <p:nvPicPr>
          <p:cNvPr id="32" name="Picture 31" descr="runs_c.png"/>
          <p:cNvPicPr>
            <a:picLocks noChangeAspect="1"/>
          </p:cNvPicPr>
          <p:nvPr/>
        </p:nvPicPr>
        <p:blipFill>
          <a:blip r:embed="rId11"/>
          <a:stretch>
            <a:fillRect/>
          </a:stretch>
        </p:blipFill>
        <p:spPr>
          <a:xfrm>
            <a:off x="548640" y="2148840"/>
            <a:ext cx="6766560" cy="1057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4 · REGISTER</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Champion vs Challenger: only a better model goes live</a:t>
            </a:r>
            <a:endParaRPr lang="en-US" sz="3000" dirty="0"/>
          </a:p>
        </p:txBody>
      </p:sp>
      <p:pic>
        <p:nvPicPr>
          <p:cNvPr id="25" name="Image 7" descr="roc.png"/>
          <p:cNvPicPr>
            <a:picLocks noChangeAspect="1"/>
          </p:cNvPicPr>
          <p:nvPr/>
        </p:nvPicPr>
        <p:blipFill>
          <a:blip r:embed="rId10"/>
          <a:stretch>
            <a:fillRect/>
          </a:stretch>
        </p:blipFill>
        <p:spPr>
          <a:xfrm>
            <a:off x="365760" y="2011680"/>
            <a:ext cx="4480560" cy="3730752"/>
          </a:xfrm>
          <a:prstGeom prst="rect">
            <a:avLst/>
          </a:prstGeom>
        </p:spPr>
      </p:pic>
      <p:sp>
        <p:nvSpPr>
          <p:cNvPr id="30" name="Text 19"/>
          <p:cNvSpPr txBox="1"/>
          <p:nvPr/>
        </p:nvSpPr>
        <p:spPr>
          <a:xfrm>
            <a:off x="5120640" y="2103120"/>
            <a:ext cx="6492240" cy="1280160"/>
          </a:xfrm>
          <a:prstGeom prst="rect">
            <a:avLst/>
          </a:prstGeom>
          <a:noFill/>
          <a:ln/>
        </p:spPr>
        <p:txBody>
          <a:bodyPr wrap="square" lIns="0" tIns="0" rIns="0" bIns="0" rtlCol="0" anchor="t"/>
          <a:lstStyle/>
          <a:p>
            <a:pPr marL="0" indent="0">
              <a:buNone/>
            </a:pPr>
            <a:r>
              <a:rPr lang="en-US" sz="1500" b="1" dirty="0">
                <a:solidFill>
                  <a:srgbClr val="0F766E"/>
                </a:solidFill>
                <a:latin typeface="Calibri" pitchFamily="34" charset="0"/>
                <a:ea typeface="Calibri" pitchFamily="34" charset="-122"/>
                <a:cs typeface="Calibri" pitchFamily="34" charset="-120"/>
              </a:rPr>
              <a:t>ROC-AUC</a:t>
            </a:r>
            <a:endParaRPr lang="en-US" sz="1500" dirty="0"/>
          </a:p>
          <a:p>
            <a:pPr marL="0" indent="0">
              <a:buNone/>
            </a:pPr>
            <a:r>
              <a:rPr lang="en-US" sz="1500" b="1" dirty="0">
                <a:solidFill>
                  <a:srgbClr val="1E293B"/>
                </a:solidFill>
                <a:latin typeface="Calibri" pitchFamily="34" charset="0"/>
                <a:ea typeface="Calibri" pitchFamily="34" charset="-122"/>
                <a:cs typeface="Calibri" pitchFamily="34" charset="-120"/>
              </a:rPr>
              <a:t>Random Forest 0.775</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Logistic Regr. 0.745</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The best model is the challenger. It becomes @champion only if its ROC-AUC beats the current champion.</a:t>
            </a:r>
            <a:endParaRPr lang="en-US" sz="1500" dirty="0"/>
          </a:p>
        </p:txBody>
      </p:sp>
      <p:pic>
        <p:nvPicPr>
          <p:cNvPr id="31" name="Picture 30" descr="reg_c.png"/>
          <p:cNvPicPr>
            <a:picLocks noChangeAspect="1"/>
          </p:cNvPicPr>
          <p:nvPr/>
        </p:nvPicPr>
        <p:blipFill>
          <a:blip r:embed="rId11"/>
          <a:stretch>
            <a:fillRect/>
          </a:stretch>
        </p:blipFill>
        <p:spPr>
          <a:xfrm>
            <a:off x="5120640" y="3429000"/>
            <a:ext cx="6492240" cy="467909"/>
          </a:xfrm>
          <a:prstGeom prst="rect">
            <a:avLst/>
          </a:prstGeom>
        </p:spPr>
      </p:pic>
      <p:sp>
        <p:nvSpPr>
          <p:cNvPr id="32" name="Rounded Rectangle 31"/>
          <p:cNvSpPr/>
          <p:nvPr/>
        </p:nvSpPr>
        <p:spPr>
          <a:xfrm>
            <a:off x="5120640" y="4343400"/>
            <a:ext cx="3154680" cy="100584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2200" b="1">
                <a:solidFill>
                  <a:srgbClr val="0F766E"/>
                </a:solidFill>
                <a:latin typeface="Cambria"/>
              </a:rPr>
              <a:t>@champion</a:t>
            </a:r>
          </a:p>
          <a:p>
            <a:pPr algn="l"/>
            <a:r>
              <a:rPr sz="1300">
                <a:solidFill>
                  <a:srgbClr val="64748B"/>
                </a:solidFill>
                <a:latin typeface="Calibri"/>
              </a:rPr>
              <a:t>v1 · the model the API serves</a:t>
            </a:r>
          </a:p>
        </p:txBody>
      </p:sp>
      <p:sp>
        <p:nvSpPr>
          <p:cNvPr id="33" name="Rounded Rectangle 32"/>
          <p:cNvSpPr/>
          <p:nvPr/>
        </p:nvSpPr>
        <p:spPr>
          <a:xfrm>
            <a:off x="8458200" y="4343400"/>
            <a:ext cx="3154680" cy="100584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2200" b="1">
                <a:solidFill>
                  <a:srgbClr val="0B1F33"/>
                </a:solidFill>
                <a:latin typeface="Cambria"/>
              </a:rPr>
              <a:t>@challenger</a:t>
            </a:r>
          </a:p>
          <a:p>
            <a:pPr algn="l"/>
            <a:r>
              <a:rPr sz="1300">
                <a:solidFill>
                  <a:srgbClr val="64748B"/>
                </a:solidFill>
                <a:latin typeface="Calibri"/>
              </a:rPr>
              <a:t>v2 · same score, so not promoted</a:t>
            </a:r>
          </a:p>
        </p:txBody>
      </p:sp>
      <p:sp>
        <p:nvSpPr>
          <p:cNvPr id="34" name="TextBox 33"/>
          <p:cNvSpPr txBox="1"/>
          <p:nvPr/>
        </p:nvSpPr>
        <p:spPr>
          <a:xfrm>
            <a:off x="5120640" y="5486400"/>
            <a:ext cx="6492240" cy="320040"/>
          </a:xfrm>
          <a:prstGeom prst="rect">
            <a:avLst/>
          </a:prstGeom>
          <a:noFill/>
        </p:spPr>
        <p:txBody>
          <a:bodyPr wrap="none">
            <a:spAutoFit/>
          </a:bodyPr>
          <a:lstStyle/>
          <a:p>
            <a:pPr algn="l"/>
            <a:r>
              <a:rPr sz="1200" i="1">
                <a:solidFill>
                  <a:srgbClr val="64748B"/>
                </a:solidFill>
                <a:latin typeface="Calibri"/>
              </a:rPr>
              <a:t>MLflow → Models → credit_default_model · the decision is saved on every version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4 · VALIDATE</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Is the model fair? Checked on every training run</a:t>
            </a:r>
            <a:endParaRPr lang="en-US" sz="3000" dirty="0"/>
          </a:p>
        </p:txBody>
      </p:sp>
      <p:sp>
        <p:nvSpPr>
          <p:cNvPr id="34" name="TextBox 33"/>
          <p:cNvSpPr txBox="1"/>
          <p:nvPr/>
        </p:nvSpPr>
        <p:spPr>
          <a:xfrm>
            <a:off x="5120640" y="6144768"/>
            <a:ext cx="6492240" cy="320040"/>
          </a:xfrm>
          <a:prstGeom prst="rect">
            <a:avLst/>
          </a:prstGeom>
          <a:noFill/>
        </p:spPr>
        <p:txBody>
          <a:bodyPr wrap="none">
            <a:spAutoFit/>
          </a:bodyPr>
          <a:lstStyle/>
          <a:p>
            <a:pPr algn="l"/>
            <a:r>
              <a:rPr sz="1200" i="1">
                <a:solidFill>
                  <a:srgbClr val="64748B"/>
                </a:solidFill>
                <a:latin typeface="Calibri"/>
              </a:rPr>
              <a:t>80% rule: a gap below 0.8 is flagged for human review · logged to MLflow · documented in MODEL_CARD.md</a:t>
            </a:r>
          </a:p>
        </p:txBody>
      </p:sp>
      <p:pic>
        <p:nvPicPr>
          <p:cNvPr id="35" name="Picture 34" descr="fairness_slide.png"/>
          <p:cNvPicPr>
            <a:picLocks noChangeAspect="1"/>
          </p:cNvPicPr>
          <p:nvPr/>
        </p:nvPicPr>
        <p:blipFill>
          <a:blip r:embed="rId2"/>
          <a:stretch>
            <a:fillRect/>
          </a:stretch>
        </p:blipFill>
        <p:spPr>
          <a:xfrm>
            <a:off x="822960" y="2011680"/>
            <a:ext cx="10515600" cy="3023235"/>
          </a:xfrm>
          <a:prstGeom prst="rect">
            <a:avLst/>
          </a:prstGeom>
        </p:spPr>
      </p:pic>
      <p:sp>
        <p:nvSpPr>
          <p:cNvPr id="32" name="Fairness card 1"/>
          <p:cNvSpPr/>
          <p:nvPr/>
        </p:nvSpPr>
        <p:spPr>
          <a:xfrm>
            <a:off x="548640" y="5166360"/>
            <a:ext cx="2596896" cy="86868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1700" b="1">
                <a:solidFill>
                  <a:srgbClr val="0F766E"/>
                </a:solidFill>
                <a:latin typeface="Cambria"/>
              </a:rPr>
              <a:t>Sex · passes</a:t>
            </a:r>
          </a:p>
          <a:p>
            <a:pPr algn="l"/>
            <a:r>
              <a:rPr sz="1150">
                <a:solidFill>
                  <a:srgbClr val="64748B"/>
                </a:solidFill>
                <a:latin typeface="Calibri"/>
              </a:rPr>
              <a:t>women and men: 58% of defaulters caught</a:t>
            </a:r>
          </a:p>
        </p:txBody>
      </p:sp>
      <p:sp>
        <p:nvSpPr>
          <p:cNvPr id="132" name="Fairness card 2"/>
          <p:cNvSpPr/>
          <p:nvPr/>
        </p:nvSpPr>
        <p:spPr>
          <a:xfrm>
            <a:off x="3374136" y="5166360"/>
            <a:ext cx="2596896" cy="86868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1700" b="1">
                <a:solidFill>
                  <a:srgbClr val="0F766E"/>
                </a:solidFill>
                <a:latin typeface="Cambria"/>
              </a:rPr>
              <a:t>Age · passes</a:t>
            </a:r>
          </a:p>
          <a:p>
            <a:pPr algn="l"/>
            <a:r>
              <a:rPr sz="1150">
                <a:solidFill>
                  <a:srgbClr val="64748B"/>
                </a:solidFill>
                <a:latin typeface="Calibri"/>
              </a:rPr>
              <a:t>all age bands within the 80% rule</a:t>
            </a:r>
          </a:p>
        </p:txBody>
      </p:sp>
      <p:sp>
        <p:nvSpPr>
          <p:cNvPr id="232" name="Fairness card 3"/>
          <p:cNvSpPr/>
          <p:nvPr/>
        </p:nvSpPr>
        <p:spPr>
          <a:xfrm>
            <a:off x="6199631" y="5166360"/>
            <a:ext cx="2596896" cy="86868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1700" b="1">
                <a:solidFill>
                  <a:srgbClr val="B45309"/>
                </a:solidFill>
                <a:latin typeface="Cambria"/>
              </a:rPr>
              <a:t>Marital status · review</a:t>
            </a:r>
          </a:p>
          <a:p>
            <a:pPr algn="l"/>
            <a:r>
              <a:rPr sz="1150">
                <a:solidFill>
                  <a:srgbClr val="64748B"/>
                </a:solidFill>
                <a:latin typeface="Calibri"/>
              </a:rPr>
              <a:t>small 'others' group gets more false alarms</a:t>
            </a:r>
          </a:p>
        </p:txBody>
      </p:sp>
      <p:sp>
        <p:nvSpPr>
          <p:cNvPr id="332" name="Fairness card 4"/>
          <p:cNvSpPr/>
          <p:nvPr/>
        </p:nvSpPr>
        <p:spPr>
          <a:xfrm>
            <a:off x="9025128" y="5166360"/>
            <a:ext cx="2596896" cy="86868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1700" b="1">
                <a:solidFill>
                  <a:srgbClr val="B45309"/>
                </a:solidFill>
                <a:latin typeface="Cambria"/>
              </a:rPr>
              <a:t>Education · review</a:t>
            </a:r>
          </a:p>
          <a:p>
            <a:pPr algn="l"/>
            <a:r>
              <a:rPr sz="1150">
                <a:solidFill>
                  <a:srgbClr val="64748B"/>
                </a:solidFill>
                <a:latin typeface="Calibri"/>
              </a:rPr>
              <a:t>false alarms: high school 20%, graduate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5 · SERVE</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Serving predictions through an API</a:t>
            </a:r>
            <a:endParaRPr lang="en-US" sz="3000" dirty="0"/>
          </a:p>
        </p:txBody>
      </p:sp>
      <p:sp>
        <p:nvSpPr>
          <p:cNvPr id="25" name="Text 16"/>
          <p:cNvSpPr txBox="1"/>
          <p:nvPr/>
        </p:nvSpPr>
        <p:spPr>
          <a:xfrm>
            <a:off x="548640" y="2103120"/>
            <a:ext cx="110642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Valid customer → prediction (real response from our API, Swagger)</a:t>
            </a:r>
            <a:endParaRPr lang="en-US" sz="1300" dirty="0"/>
          </a:p>
        </p:txBody>
      </p:sp>
      <p:pic>
        <p:nvPicPr>
          <p:cNvPr id="26" name="Image 7" descr="swagger_resp.png"/>
          <p:cNvPicPr>
            <a:picLocks noChangeAspect="1"/>
          </p:cNvPicPr>
          <p:nvPr/>
        </p:nvPicPr>
        <p:blipFill>
          <a:blip r:embed="rId10"/>
          <a:stretch>
            <a:fillRect/>
          </a:stretch>
        </p:blipFill>
        <p:spPr>
          <a:xfrm>
            <a:off x="548640" y="2468880"/>
            <a:ext cx="11064240" cy="1416223"/>
          </a:xfrm>
          <a:prstGeom prst="rect">
            <a:avLst/>
          </a:prstGeom>
        </p:spPr>
      </p:pic>
      <p:sp>
        <p:nvSpPr>
          <p:cNvPr id="27" name="Shape 17"/>
          <p:cNvSpPr/>
          <p:nvPr/>
        </p:nvSpPr>
        <p:spPr>
          <a:xfrm>
            <a:off x="548640" y="4114800"/>
            <a:ext cx="2103120" cy="1051560"/>
          </a:xfrm>
          <a:prstGeom prst="roundRect">
            <a:avLst>
              <a:gd name="adj" fmla="val 8889"/>
            </a:avLst>
          </a:prstGeom>
          <a:solidFill>
            <a:srgbClr val="F1F5F9"/>
          </a:solidFill>
          <a:ln w="12700">
            <a:solidFill>
              <a:srgbClr val="F1F5F9"/>
            </a:solidFill>
            <a:prstDash val="solid"/>
          </a:ln>
        </p:spPr>
        <p:txBody>
          <a:bodyPr/>
          <a:lstStyle/>
          <a:p>
            <a:endParaRPr lang="pt-PT" sz="1400"/>
          </a:p>
        </p:txBody>
      </p:sp>
      <p:sp>
        <p:nvSpPr>
          <p:cNvPr id="28" name="Text 18"/>
          <p:cNvSpPr txBox="1"/>
          <p:nvPr/>
        </p:nvSpPr>
        <p:spPr>
          <a:xfrm>
            <a:off x="731520" y="4206240"/>
            <a:ext cx="1828800" cy="502920"/>
          </a:xfrm>
          <a:prstGeom prst="rect">
            <a:avLst/>
          </a:prstGeom>
          <a:noFill/>
          <a:ln/>
        </p:spPr>
        <p:txBody>
          <a:bodyPr wrap="square" lIns="0" tIns="0" rIns="0" bIns="0" rtlCol="0" anchor="ctr"/>
          <a:lstStyle/>
          <a:p>
            <a:pPr marL="0" indent="0">
              <a:buNone/>
            </a:pPr>
            <a:r>
              <a:rPr lang="en-US" sz="1800" b="1" dirty="0">
                <a:solidFill>
                  <a:srgbClr val="E5484D"/>
                </a:solidFill>
                <a:latin typeface="Cambria" pitchFamily="34" charset="0"/>
                <a:ea typeface="Cambria" pitchFamily="34" charset="-122"/>
                <a:cs typeface="Cambria" pitchFamily="34" charset="-120"/>
              </a:rPr>
              <a:t>high_default_risk</a:t>
            </a:r>
            <a:endParaRPr lang="en-US" sz="2000" dirty="0"/>
          </a:p>
        </p:txBody>
      </p:sp>
      <p:sp>
        <p:nvSpPr>
          <p:cNvPr id="29" name="Text 19"/>
          <p:cNvSpPr txBox="1"/>
          <p:nvPr/>
        </p:nvSpPr>
        <p:spPr>
          <a:xfrm>
            <a:off x="731520" y="4709160"/>
            <a:ext cx="18288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label</a:t>
            </a:r>
            <a:endParaRPr lang="en-US" sz="1100" dirty="0"/>
          </a:p>
        </p:txBody>
      </p:sp>
      <p:sp>
        <p:nvSpPr>
          <p:cNvPr id="30" name="Shape 20"/>
          <p:cNvSpPr/>
          <p:nvPr/>
        </p:nvSpPr>
        <p:spPr>
          <a:xfrm>
            <a:off x="2834640" y="4114800"/>
            <a:ext cx="2103120" cy="1051560"/>
          </a:xfrm>
          <a:prstGeom prst="roundRect">
            <a:avLst>
              <a:gd name="adj" fmla="val 8889"/>
            </a:avLst>
          </a:prstGeom>
          <a:solidFill>
            <a:srgbClr val="F1F5F9"/>
          </a:solidFill>
          <a:ln w="12700">
            <a:solidFill>
              <a:srgbClr val="F1F5F9"/>
            </a:solidFill>
            <a:prstDash val="solid"/>
          </a:ln>
        </p:spPr>
        <p:txBody>
          <a:bodyPr/>
          <a:lstStyle/>
          <a:p>
            <a:endParaRPr lang="pt-PT" sz="1400"/>
          </a:p>
        </p:txBody>
      </p:sp>
      <p:sp>
        <p:nvSpPr>
          <p:cNvPr id="31" name="Text 21"/>
          <p:cNvSpPr txBox="1"/>
          <p:nvPr/>
        </p:nvSpPr>
        <p:spPr>
          <a:xfrm>
            <a:off x="3017520" y="4206240"/>
            <a:ext cx="1828800" cy="502920"/>
          </a:xfrm>
          <a:prstGeom prst="rect">
            <a:avLst/>
          </a:prstGeom>
          <a:noFill/>
          <a:ln/>
        </p:spPr>
        <p:txBody>
          <a:bodyPr wrap="square" lIns="0" tIns="0" rIns="0" bIns="0" rtlCol="0" anchor="ctr"/>
          <a:lstStyle/>
          <a:p>
            <a:pPr marL="0" indent="0">
              <a:buNone/>
            </a:pPr>
            <a:r>
              <a:rPr lang="en-US" sz="1800" b="1" dirty="0">
                <a:solidFill>
                  <a:srgbClr val="0B1F33"/>
                </a:solidFill>
                <a:latin typeface="Cambria" pitchFamily="34" charset="0"/>
                <a:ea typeface="Cambria" pitchFamily="34" charset="-122"/>
                <a:cs typeface="Cambria" pitchFamily="34" charset="-120"/>
              </a:rPr>
              <a:t>0.77</a:t>
            </a:r>
            <a:endParaRPr lang="en-US" sz="2000" dirty="0"/>
          </a:p>
        </p:txBody>
      </p:sp>
      <p:sp>
        <p:nvSpPr>
          <p:cNvPr id="32" name="Text 22"/>
          <p:cNvSpPr txBox="1"/>
          <p:nvPr/>
        </p:nvSpPr>
        <p:spPr>
          <a:xfrm>
            <a:off x="3017520" y="4709160"/>
            <a:ext cx="18288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default probability</a:t>
            </a:r>
            <a:endParaRPr lang="en-US" sz="1100" dirty="0"/>
          </a:p>
        </p:txBody>
      </p:sp>
      <p:sp>
        <p:nvSpPr>
          <p:cNvPr id="33" name="Shape 23"/>
          <p:cNvSpPr/>
          <p:nvPr/>
        </p:nvSpPr>
        <p:spPr>
          <a:xfrm>
            <a:off x="5120640" y="4114800"/>
            <a:ext cx="2103120" cy="1051560"/>
          </a:xfrm>
          <a:prstGeom prst="roundRect">
            <a:avLst>
              <a:gd name="adj" fmla="val 8889"/>
            </a:avLst>
          </a:prstGeom>
          <a:solidFill>
            <a:srgbClr val="F1F5F9"/>
          </a:solidFill>
          <a:ln w="12700">
            <a:solidFill>
              <a:srgbClr val="F1F5F9"/>
            </a:solidFill>
            <a:prstDash val="solid"/>
          </a:ln>
        </p:spPr>
        <p:txBody>
          <a:bodyPr/>
          <a:lstStyle/>
          <a:p>
            <a:endParaRPr lang="pt-PT" sz="1400"/>
          </a:p>
        </p:txBody>
      </p:sp>
      <p:sp>
        <p:nvSpPr>
          <p:cNvPr id="34" name="Text 24"/>
          <p:cNvSpPr txBox="1"/>
          <p:nvPr/>
        </p:nvSpPr>
        <p:spPr>
          <a:xfrm>
            <a:off x="5303520" y="4206240"/>
            <a:ext cx="1828800" cy="50292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version 1</a:t>
            </a:r>
            <a:endParaRPr lang="en-US" sz="2000" dirty="0"/>
          </a:p>
        </p:txBody>
      </p:sp>
      <p:sp>
        <p:nvSpPr>
          <p:cNvPr id="35" name="Text 25"/>
          <p:cNvSpPr txBox="1"/>
          <p:nvPr/>
        </p:nvSpPr>
        <p:spPr>
          <a:xfrm>
            <a:off x="5303520" y="4709160"/>
            <a:ext cx="18288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model that answered</a:t>
            </a:r>
            <a:endParaRPr lang="en-US" sz="1100" dirty="0"/>
          </a:p>
        </p:txBody>
      </p:sp>
      <p:sp>
        <p:nvSpPr>
          <p:cNvPr id="36" name="Text 26"/>
          <p:cNvSpPr txBox="1"/>
          <p:nvPr/>
        </p:nvSpPr>
        <p:spPr>
          <a:xfrm>
            <a:off x="548640" y="5394960"/>
            <a:ext cx="6583680" cy="96012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The API loads the @champion model</a:t>
            </a:r>
            <a:endParaRPr lang="en-US" sz="1400" dirty="0"/>
          </a:p>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Wrong input is rejected before it reaches the model </a:t>
            </a:r>
            <a:endParaRPr lang="en-US" sz="1400" dirty="0"/>
          </a:p>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Every answer says a human must review the score</a:t>
            </a:r>
            <a:endParaRPr lang="en-US" sz="1400" dirty="0"/>
          </a:p>
        </p:txBody>
      </p:sp>
      <p:sp>
        <p:nvSpPr>
          <p:cNvPr id="37" name="TextBox 36"/>
          <p:cNvSpPr txBox="1"/>
          <p:nvPr/>
        </p:nvSpPr>
        <p:spPr>
          <a:xfrm>
            <a:off x="7498079" y="4069080"/>
            <a:ext cx="2505751" cy="292388"/>
          </a:xfrm>
          <a:prstGeom prst="rect">
            <a:avLst/>
          </a:prstGeom>
          <a:noFill/>
        </p:spPr>
        <p:txBody>
          <a:bodyPr wrap="none" lIns="0" rIns="0">
            <a:spAutoFit/>
          </a:bodyPr>
          <a:lstStyle/>
          <a:p>
            <a:pPr algn="l"/>
            <a:r>
              <a:rPr sz="1300" b="1" dirty="0">
                <a:solidFill>
                  <a:srgbClr val="E5484D"/>
                </a:solidFill>
                <a:latin typeface="Calibri"/>
              </a:rPr>
              <a:t>Wrong input (AGE = 150) → rejected</a:t>
            </a:r>
          </a:p>
        </p:txBody>
      </p:sp>
      <p:pic>
        <p:nvPicPr>
          <p:cNvPr id="38" name="Picture 37" descr="e422c.png"/>
          <p:cNvPicPr>
            <a:picLocks noChangeAspect="1"/>
          </p:cNvPicPr>
          <p:nvPr/>
        </p:nvPicPr>
        <p:blipFill>
          <a:blip r:embed="rId11"/>
          <a:stretch>
            <a:fillRect/>
          </a:stretch>
        </p:blipFill>
        <p:spPr>
          <a:xfrm>
            <a:off x="7498079" y="4434840"/>
            <a:ext cx="4114800" cy="1991269"/>
          </a:xfrm>
          <a:prstGeom prst="rect">
            <a:avLst/>
          </a:prstGeom>
          <a:ln w="9525">
            <a:solidFill>
              <a:srgbClr val="CBD5E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6 · PACKAGE</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Running everything with Docker</a:t>
            </a:r>
            <a:endParaRPr lang="en-US" sz="3000" dirty="0"/>
          </a:p>
        </p:txBody>
      </p:sp>
      <p:sp>
        <p:nvSpPr>
          <p:cNvPr id="25" name="Text 16"/>
          <p:cNvSpPr txBox="1"/>
          <p:nvPr/>
        </p:nvSpPr>
        <p:spPr>
          <a:xfrm>
            <a:off x="548640" y="2103120"/>
            <a:ext cx="110642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Docker Desktop: our containers running, with their live logs</a:t>
            </a:r>
            <a:endParaRPr lang="en-US" sz="1300" dirty="0"/>
          </a:p>
        </p:txBody>
      </p:sp>
      <p:pic>
        <p:nvPicPr>
          <p:cNvPr id="26" name="Image 7" descr="docker.png"/>
          <p:cNvPicPr>
            <a:picLocks noChangeAspect="1"/>
          </p:cNvPicPr>
          <p:nvPr/>
        </p:nvPicPr>
        <p:blipFill>
          <a:blip r:embed="rId10"/>
          <a:stretch>
            <a:fillRect/>
          </a:stretch>
        </p:blipFill>
        <p:spPr>
          <a:xfrm>
            <a:off x="548640" y="2468880"/>
            <a:ext cx="11064240" cy="2386405"/>
          </a:xfrm>
          <a:prstGeom prst="rect">
            <a:avLst/>
          </a:prstGeom>
        </p:spPr>
      </p:pic>
      <p:sp>
        <p:nvSpPr>
          <p:cNvPr id="27" name="Shape 17"/>
          <p:cNvSpPr/>
          <p:nvPr/>
        </p:nvSpPr>
        <p:spPr>
          <a:xfrm>
            <a:off x="548640" y="5029200"/>
            <a:ext cx="3474720" cy="1051560"/>
          </a:xfrm>
          <a:prstGeom prst="roundRect">
            <a:avLst>
              <a:gd name="adj" fmla="val 10435"/>
            </a:avLst>
          </a:prstGeom>
          <a:solidFill>
            <a:srgbClr val="F1F5F9"/>
          </a:solidFill>
          <a:ln w="12700">
            <a:solidFill>
              <a:srgbClr val="F1F5F9"/>
            </a:solidFill>
            <a:prstDash val="solid"/>
          </a:ln>
        </p:spPr>
        <p:txBody>
          <a:bodyPr/>
          <a:lstStyle/>
          <a:p>
            <a:endParaRPr lang="pt-PT"/>
          </a:p>
        </p:txBody>
      </p:sp>
      <p:sp>
        <p:nvSpPr>
          <p:cNvPr id="28" name="Text 18"/>
          <p:cNvSpPr txBox="1"/>
          <p:nvPr/>
        </p:nvSpPr>
        <p:spPr>
          <a:xfrm>
            <a:off x="777240" y="5120640"/>
            <a:ext cx="3017520" cy="457200"/>
          </a:xfrm>
          <a:prstGeom prst="rect">
            <a:avLst/>
          </a:prstGeom>
          <a:noFill/>
          <a:ln/>
        </p:spPr>
        <p:txBody>
          <a:bodyPr wrap="square" lIns="0" tIns="0" rIns="0" bIns="0" rtlCol="0" anchor="ctr"/>
          <a:lstStyle/>
          <a:p>
            <a:pPr marL="0" indent="0">
              <a:buNone/>
            </a:pPr>
            <a:r>
              <a:rPr lang="en-US" sz="2000" b="1" dirty="0">
                <a:solidFill>
                  <a:srgbClr val="0F766E"/>
                </a:solidFill>
                <a:latin typeface="Courier New" pitchFamily="34" charset="0"/>
                <a:ea typeface="Courier New" pitchFamily="34" charset="-122"/>
                <a:cs typeface="Courier New" pitchFamily="34" charset="-120"/>
              </a:rPr>
              <a:t>mlflow</a:t>
            </a:r>
            <a:endParaRPr lang="en-US" sz="2000" dirty="0"/>
          </a:p>
        </p:txBody>
      </p:sp>
      <p:sp>
        <p:nvSpPr>
          <p:cNvPr id="29" name="Text 19"/>
          <p:cNvSpPr txBox="1"/>
          <p:nvPr/>
        </p:nvSpPr>
        <p:spPr>
          <a:xfrm>
            <a:off x="777240" y="5577840"/>
            <a:ext cx="31089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tracking + registry · port 5000</a:t>
            </a:r>
            <a:endParaRPr lang="en-US" sz="1300" dirty="0"/>
          </a:p>
        </p:txBody>
      </p:sp>
      <p:sp>
        <p:nvSpPr>
          <p:cNvPr id="30" name="Shape 20"/>
          <p:cNvSpPr/>
          <p:nvPr/>
        </p:nvSpPr>
        <p:spPr>
          <a:xfrm>
            <a:off x="4297680" y="5029200"/>
            <a:ext cx="3474720" cy="1051560"/>
          </a:xfrm>
          <a:prstGeom prst="roundRect">
            <a:avLst>
              <a:gd name="adj" fmla="val 10435"/>
            </a:avLst>
          </a:prstGeom>
          <a:solidFill>
            <a:srgbClr val="F1F5F9"/>
          </a:solidFill>
          <a:ln w="12700">
            <a:solidFill>
              <a:srgbClr val="F1F5F9"/>
            </a:solidFill>
            <a:prstDash val="solid"/>
          </a:ln>
        </p:spPr>
        <p:txBody>
          <a:bodyPr/>
          <a:lstStyle/>
          <a:p>
            <a:endParaRPr lang="pt-PT"/>
          </a:p>
        </p:txBody>
      </p:sp>
      <p:sp>
        <p:nvSpPr>
          <p:cNvPr id="31" name="Text 21"/>
          <p:cNvSpPr txBox="1"/>
          <p:nvPr/>
        </p:nvSpPr>
        <p:spPr>
          <a:xfrm>
            <a:off x="4526280" y="5120640"/>
            <a:ext cx="3017520" cy="457200"/>
          </a:xfrm>
          <a:prstGeom prst="rect">
            <a:avLst/>
          </a:prstGeom>
          <a:noFill/>
          <a:ln/>
        </p:spPr>
        <p:txBody>
          <a:bodyPr wrap="square" lIns="0" tIns="0" rIns="0" bIns="0" rtlCol="0" anchor="ctr"/>
          <a:lstStyle/>
          <a:p>
            <a:pPr marL="0" indent="0">
              <a:buNone/>
            </a:pPr>
            <a:r>
              <a:rPr lang="en-US" sz="2000" b="1" dirty="0">
                <a:solidFill>
                  <a:srgbClr val="0F766E"/>
                </a:solidFill>
                <a:latin typeface="Courier New" pitchFamily="34" charset="0"/>
                <a:ea typeface="Courier New" pitchFamily="34" charset="-122"/>
                <a:cs typeface="Courier New" pitchFamily="34" charset="-120"/>
              </a:rPr>
              <a:t>api</a:t>
            </a:r>
            <a:endParaRPr lang="en-US" sz="2000" dirty="0"/>
          </a:p>
        </p:txBody>
      </p:sp>
      <p:sp>
        <p:nvSpPr>
          <p:cNvPr id="32" name="Text 22"/>
          <p:cNvSpPr txBox="1"/>
          <p:nvPr/>
        </p:nvSpPr>
        <p:spPr>
          <a:xfrm>
            <a:off x="4526280" y="5577840"/>
            <a:ext cx="31089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prediction service · port 8000</a:t>
            </a:r>
            <a:endParaRPr lang="en-US" sz="1300" dirty="0"/>
          </a:p>
        </p:txBody>
      </p:sp>
      <p:sp>
        <p:nvSpPr>
          <p:cNvPr id="33" name="Shape 23"/>
          <p:cNvSpPr/>
          <p:nvPr/>
        </p:nvSpPr>
        <p:spPr>
          <a:xfrm>
            <a:off x="8046720" y="5029200"/>
            <a:ext cx="3474720" cy="1051560"/>
          </a:xfrm>
          <a:prstGeom prst="roundRect">
            <a:avLst>
              <a:gd name="adj" fmla="val 10435"/>
            </a:avLst>
          </a:prstGeom>
          <a:solidFill>
            <a:srgbClr val="F1F5F9"/>
          </a:solidFill>
          <a:ln w="12700">
            <a:solidFill>
              <a:srgbClr val="F1F5F9"/>
            </a:solidFill>
            <a:prstDash val="solid"/>
          </a:ln>
        </p:spPr>
        <p:txBody>
          <a:bodyPr/>
          <a:lstStyle/>
          <a:p>
            <a:endParaRPr lang="pt-PT"/>
          </a:p>
        </p:txBody>
      </p:sp>
      <p:sp>
        <p:nvSpPr>
          <p:cNvPr id="34" name="Text 24"/>
          <p:cNvSpPr txBox="1"/>
          <p:nvPr/>
        </p:nvSpPr>
        <p:spPr>
          <a:xfrm>
            <a:off x="8275320" y="5120640"/>
            <a:ext cx="3017520" cy="457200"/>
          </a:xfrm>
          <a:prstGeom prst="rect">
            <a:avLst/>
          </a:prstGeom>
          <a:noFill/>
          <a:ln/>
        </p:spPr>
        <p:txBody>
          <a:bodyPr wrap="square" lIns="0" tIns="0" rIns="0" bIns="0" rtlCol="0" anchor="ctr"/>
          <a:lstStyle/>
          <a:p>
            <a:pPr marL="0" indent="0">
              <a:buNone/>
            </a:pPr>
            <a:r>
              <a:rPr lang="en-US" sz="2000" b="1" dirty="0">
                <a:solidFill>
                  <a:srgbClr val="64748B"/>
                </a:solidFill>
                <a:latin typeface="Courier New" pitchFamily="34" charset="0"/>
                <a:ea typeface="Courier New" pitchFamily="34" charset="-122"/>
                <a:cs typeface="Courier New" pitchFamily="34" charset="-120"/>
              </a:rPr>
              <a:t>trainer</a:t>
            </a:r>
            <a:endParaRPr lang="en-US" sz="2000" dirty="0"/>
          </a:p>
        </p:txBody>
      </p:sp>
      <p:sp>
        <p:nvSpPr>
          <p:cNvPr id="35" name="Text 25"/>
          <p:cNvSpPr txBox="1"/>
          <p:nvPr/>
        </p:nvSpPr>
        <p:spPr>
          <a:xfrm>
            <a:off x="8275320" y="5577840"/>
            <a:ext cx="31089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runs once when we train, then removed</a:t>
            </a:r>
            <a:endParaRPr lang="en-US" sz="1300" dirty="0"/>
          </a:p>
        </p:txBody>
      </p:sp>
      <p:sp>
        <p:nvSpPr>
          <p:cNvPr id="36" name="Text 26"/>
          <p:cNvSpPr txBox="1"/>
          <p:nvPr/>
        </p:nvSpPr>
        <p:spPr>
          <a:xfrm>
            <a:off x="548640" y="6263640"/>
            <a:ext cx="11064240" cy="3200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 teammate needs only Git, Docker and the CSV. 27 automated tests + a Docker build run on every push to GitHub (CI green).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0B1F33"/>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34D399"/>
                </a:solidFill>
                <a:latin typeface="Calibri" pitchFamily="34" charset="0"/>
                <a:ea typeface="Calibri" pitchFamily="34" charset="-122"/>
                <a:cs typeface="Calibri" pitchFamily="34" charset="-120"/>
              </a:rPr>
              <a:t>CONCLUSION</a:t>
            </a:r>
            <a:endParaRPr lang="en-US" sz="1300" dirty="0"/>
          </a:p>
        </p:txBody>
      </p:sp>
      <p:sp>
        <p:nvSpPr>
          <p:cNvPr id="24" name="Text 15"/>
          <p:cNvSpPr txBox="1"/>
          <p:nvPr/>
        </p:nvSpPr>
        <p:spPr>
          <a:xfrm>
            <a:off x="548640" y="1325880"/>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we built and what comes next</a:t>
            </a:r>
            <a:endParaRPr lang="en-US" sz="3000" dirty="0"/>
          </a:p>
        </p:txBody>
      </p:sp>
      <p:sp>
        <p:nvSpPr>
          <p:cNvPr id="25" name="Shape 16"/>
          <p:cNvSpPr/>
          <p:nvPr/>
        </p:nvSpPr>
        <p:spPr>
          <a:xfrm>
            <a:off x="548640" y="2286000"/>
            <a:ext cx="3474720" cy="3291840"/>
          </a:xfrm>
          <a:prstGeom prst="roundRect">
            <a:avLst>
              <a:gd name="adj" fmla="val 3333"/>
            </a:avLst>
          </a:prstGeom>
          <a:solidFill>
            <a:srgbClr val="14304D"/>
          </a:solidFill>
          <a:ln w="12700">
            <a:solidFill>
              <a:srgbClr val="14304D"/>
            </a:solidFill>
            <a:prstDash val="solid"/>
          </a:ln>
        </p:spPr>
        <p:txBody>
          <a:bodyPr/>
          <a:lstStyle/>
          <a:p>
            <a:endParaRPr lang="pt-PT"/>
          </a:p>
        </p:txBody>
      </p:sp>
      <p:sp>
        <p:nvSpPr>
          <p:cNvPr id="26" name="Text 17"/>
          <p:cNvSpPr txBox="1"/>
          <p:nvPr/>
        </p:nvSpPr>
        <p:spPr>
          <a:xfrm>
            <a:off x="822960" y="2468880"/>
            <a:ext cx="3017520" cy="411480"/>
          </a:xfrm>
          <a:prstGeom prst="rect">
            <a:avLst/>
          </a:prstGeom>
          <a:noFill/>
          <a:ln/>
        </p:spPr>
        <p:txBody>
          <a:bodyPr wrap="square" lIns="0" tIns="0" rIns="0" bIns="0" rtlCol="0" anchor="ctr"/>
          <a:lstStyle/>
          <a:p>
            <a:pPr marL="0" indent="0">
              <a:buNone/>
            </a:pPr>
            <a:r>
              <a:rPr lang="en-US" sz="2000" b="1" dirty="0">
                <a:solidFill>
                  <a:srgbClr val="34D399"/>
                </a:solidFill>
                <a:latin typeface="Cambria" pitchFamily="34" charset="0"/>
                <a:ea typeface="Cambria" pitchFamily="34" charset="-122"/>
                <a:cs typeface="Cambria" pitchFamily="34" charset="-120"/>
              </a:rPr>
              <a:t>What we built</a:t>
            </a:r>
            <a:endParaRPr lang="en-US" sz="2000" dirty="0"/>
          </a:p>
        </p:txBody>
      </p:sp>
      <p:sp>
        <p:nvSpPr>
          <p:cNvPr id="27" name="Text 18"/>
          <p:cNvSpPr txBox="1"/>
          <p:nvPr/>
        </p:nvSpPr>
        <p:spPr>
          <a:xfrm>
            <a:off x="822960" y="301752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Experiments + fairness tracked in MLflow</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Champion vs Challenger registry</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Prediction API with input checks</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Docker + 27 tests in GitHub CI</a:t>
            </a:r>
            <a:endParaRPr lang="en-US" sz="1500" dirty="0"/>
          </a:p>
        </p:txBody>
      </p:sp>
      <p:sp>
        <p:nvSpPr>
          <p:cNvPr id="28" name="Shape 19"/>
          <p:cNvSpPr/>
          <p:nvPr/>
        </p:nvSpPr>
        <p:spPr>
          <a:xfrm>
            <a:off x="4297680" y="2286000"/>
            <a:ext cx="3474720" cy="3291840"/>
          </a:xfrm>
          <a:prstGeom prst="roundRect">
            <a:avLst>
              <a:gd name="adj" fmla="val 3333"/>
            </a:avLst>
          </a:prstGeom>
          <a:solidFill>
            <a:srgbClr val="14304D"/>
          </a:solidFill>
          <a:ln w="12700">
            <a:solidFill>
              <a:srgbClr val="14304D"/>
            </a:solidFill>
            <a:prstDash val="solid"/>
          </a:ln>
        </p:spPr>
        <p:txBody>
          <a:bodyPr/>
          <a:lstStyle/>
          <a:p>
            <a:endParaRPr lang="pt-PT"/>
          </a:p>
        </p:txBody>
      </p:sp>
      <p:sp>
        <p:nvSpPr>
          <p:cNvPr id="29" name="Text 20"/>
          <p:cNvSpPr txBox="1"/>
          <p:nvPr/>
        </p:nvSpPr>
        <p:spPr>
          <a:xfrm>
            <a:off x="4572000" y="2468880"/>
            <a:ext cx="3017520" cy="411480"/>
          </a:xfrm>
          <a:prstGeom prst="rect">
            <a:avLst/>
          </a:prstGeom>
          <a:noFill/>
          <a:ln/>
        </p:spPr>
        <p:txBody>
          <a:bodyPr wrap="square" lIns="0" tIns="0" rIns="0" bIns="0" rtlCol="0" anchor="ctr"/>
          <a:lstStyle/>
          <a:p>
            <a:pPr marL="0" indent="0">
              <a:buNone/>
            </a:pPr>
            <a:r>
              <a:rPr lang="en-US" sz="2000" b="1" dirty="0">
                <a:solidFill>
                  <a:srgbClr val="93C5FD"/>
                </a:solidFill>
                <a:latin typeface="Cambria" pitchFamily="34" charset="0"/>
                <a:ea typeface="Cambria" pitchFamily="34" charset="-122"/>
                <a:cs typeface="Cambria" pitchFamily="34" charset="-120"/>
              </a:rPr>
              <a:t>Next steps</a:t>
            </a:r>
            <a:endParaRPr lang="en-US" sz="2000" dirty="0"/>
          </a:p>
        </p:txBody>
      </p:sp>
      <p:sp>
        <p:nvSpPr>
          <p:cNvPr id="30" name="Text 21"/>
          <p:cNvSpPr txBox="1"/>
          <p:nvPr/>
        </p:nvSpPr>
        <p:spPr>
          <a:xfrm>
            <a:off x="4572000" y="301752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Monitor drift over time (Evidently)</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Retrain without sensitive attributes</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Set the threshold with the business</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Cross-validation and tuning</a:t>
            </a:r>
            <a:endParaRPr lang="en-US" sz="1500" dirty="0"/>
          </a:p>
        </p:txBody>
      </p:sp>
      <p:sp>
        <p:nvSpPr>
          <p:cNvPr id="31" name="Shape 22"/>
          <p:cNvSpPr/>
          <p:nvPr/>
        </p:nvSpPr>
        <p:spPr>
          <a:xfrm>
            <a:off x="8046720" y="2286000"/>
            <a:ext cx="3474720" cy="3291840"/>
          </a:xfrm>
          <a:prstGeom prst="roundRect">
            <a:avLst>
              <a:gd name="adj" fmla="val 3333"/>
            </a:avLst>
          </a:prstGeom>
          <a:solidFill>
            <a:srgbClr val="14304D"/>
          </a:solidFill>
          <a:ln w="12700">
            <a:solidFill>
              <a:srgbClr val="14304D"/>
            </a:solidFill>
            <a:prstDash val="solid"/>
          </a:ln>
        </p:spPr>
        <p:txBody>
          <a:bodyPr/>
          <a:lstStyle/>
          <a:p>
            <a:endParaRPr lang="pt-PT"/>
          </a:p>
        </p:txBody>
      </p:sp>
      <p:sp>
        <p:nvSpPr>
          <p:cNvPr id="32" name="Text 23"/>
          <p:cNvSpPr txBox="1"/>
          <p:nvPr/>
        </p:nvSpPr>
        <p:spPr>
          <a:xfrm>
            <a:off x="8321040" y="2468880"/>
            <a:ext cx="3017520" cy="411480"/>
          </a:xfrm>
          <a:prstGeom prst="rect">
            <a:avLst/>
          </a:prstGeom>
          <a:noFill/>
          <a:ln/>
        </p:spPr>
        <p:txBody>
          <a:bodyPr wrap="square" lIns="0" tIns="0" rIns="0" bIns="0" rtlCol="0" anchor="ctr"/>
          <a:lstStyle/>
          <a:p>
            <a:pPr marL="0" indent="0">
              <a:buNone/>
            </a:pPr>
            <a:r>
              <a:rPr lang="en-US" sz="2000" b="1" dirty="0">
                <a:solidFill>
                  <a:srgbClr val="FBBF24"/>
                </a:solidFill>
                <a:latin typeface="Cambria" pitchFamily="34" charset="0"/>
                <a:ea typeface="Cambria" pitchFamily="34" charset="-122"/>
                <a:cs typeface="Cambria" pitchFamily="34" charset="-120"/>
              </a:rPr>
              <a:t>Responsible use</a:t>
            </a:r>
            <a:endParaRPr lang="en-US" sz="2000" dirty="0"/>
          </a:p>
        </p:txBody>
      </p:sp>
      <p:sp>
        <p:nvSpPr>
          <p:cNvPr id="33" name="Text 24"/>
          <p:cNvSpPr txBox="1"/>
          <p:nvPr/>
        </p:nvSpPr>
        <p:spPr>
          <a:xfrm>
            <a:off x="8321040" y="301752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Sex and age pass; education under review</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A human reviews every flag</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Model card documents the limits</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High-risk under the EU AI Act; GDPR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BACKUP · FOR QUESTIONS</a:t>
            </a:r>
            <a:endParaRPr lang="en-US" sz="1300" dirty="0"/>
          </a:p>
        </p:txBody>
      </p:sp>
      <p:sp>
        <p:nvSpPr>
          <p:cNvPr id="3" name="Text 1"/>
          <p:cNvSpPr txBox="1"/>
          <p:nvPr/>
        </p:nvSpPr>
        <p:spPr>
          <a:xfrm>
            <a:off x="548640" y="777240"/>
            <a:ext cx="10972800" cy="73152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Results in detail and limitations</a:t>
            </a:r>
            <a:endParaRPr lang="en-US" sz="3000" dirty="0"/>
          </a:p>
        </p:txBody>
      </p:sp>
      <p:pic>
        <p:nvPicPr>
          <p:cNvPr id="4" name="Image 0" descr="cm_rf.png"/>
          <p:cNvPicPr>
            <a:picLocks noChangeAspect="1"/>
          </p:cNvPicPr>
          <p:nvPr/>
        </p:nvPicPr>
        <p:blipFill>
          <a:blip r:embed="rId3"/>
          <a:stretch>
            <a:fillRect/>
          </a:stretch>
        </p:blipFill>
        <p:spPr>
          <a:xfrm>
            <a:off x="365760" y="1645920"/>
            <a:ext cx="4572000" cy="381304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212080" y="1783080"/>
          <a:ext cx="3017520" cy="1975104"/>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Log. Regr.</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0.745</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0.775</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0.561</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0.580</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0.470</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0.504</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0.512</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0.539</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0.763</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0.781</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txBox="1"/>
          <p:nvPr/>
        </p:nvSpPr>
        <p:spPr>
          <a:xfrm>
            <a:off x="8595360" y="1737360"/>
            <a:ext cx="3108960" cy="365760"/>
          </a:xfrm>
          <a:prstGeom prst="rect">
            <a:avLst/>
          </a:prstGeom>
          <a:noFill/>
          <a:ln/>
        </p:spPr>
        <p:txBody>
          <a:bodyPr wrap="square" lIns="0" tIns="0" rIns="0" bIns="0" rtlCol="0" anchor="ctr"/>
          <a:lstStyle/>
          <a:p>
            <a:pPr marL="0" indent="0">
              <a:buNone/>
            </a:pPr>
            <a:r>
              <a:rPr lang="en-US" sz="1800" b="1" dirty="0">
                <a:solidFill>
                  <a:srgbClr val="0B1F33"/>
                </a:solidFill>
                <a:latin typeface="Cambria" pitchFamily="34" charset="0"/>
                <a:ea typeface="Cambria" pitchFamily="34" charset="-122"/>
                <a:cs typeface="Cambria" pitchFamily="34" charset="-120"/>
              </a:rPr>
              <a:t>Limitations</a:t>
            </a:r>
            <a:endParaRPr lang="en-US" sz="1800" dirty="0"/>
          </a:p>
        </p:txBody>
      </p:sp>
      <p:sp>
        <p:nvSpPr>
          <p:cNvPr id="7" name="Text 3"/>
          <p:cNvSpPr txBox="1"/>
          <p:nvPr/>
        </p:nvSpPr>
        <p:spPr>
          <a:xfrm>
            <a:off x="8595360" y="2194560"/>
            <a:ext cx="3108960" cy="3657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Data from Taiwan, 2005</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One train/test split</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No tuning; threshold 0.5</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Education fairness gap (in review)</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No monitoring or data versioning</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MLflow has no login (laptop only)</a:t>
            </a:r>
            <a:endParaRPr lang="en-US" sz="1300" dirty="0"/>
          </a:p>
        </p:txBody>
      </p:sp>
      <p:sp>
        <p:nvSpPr>
          <p:cNvPr id="8" name="Text 4"/>
          <p:cNvSpPr txBox="1"/>
          <p:nvPr/>
        </p:nvSpPr>
        <p:spPr>
          <a:xfrm>
            <a:off x="548640" y="5577840"/>
            <a:ext cx="768096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Random Forest on 6,000 test customers: 770 of 1,327 defaulters caught, 759 false alarms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1737</Words>
  <Application>Microsoft Office PowerPoint</Application>
  <PresentationFormat>Widescreen</PresentationFormat>
  <Paragraphs>214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Default Risk Prediction with MLOps</dc:title>
  <dc:subject>PptxGenJS Presentation</dc:subject>
  <dc:creator>PptxGenJS</dc:creator>
  <cp:lastModifiedBy>Olívia Rua</cp:lastModifiedBy>
  <cp:revision>5</cp:revision>
  <dcterms:created xsi:type="dcterms:W3CDTF">2026-09-26T18:49:01Z</dcterms:created>
  <dcterms:modified xsi:type="dcterms:W3CDTF">2026-09-26T19:49:04Z</dcterms:modified>
</cp:coreProperties>
</file>