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8" r:id="rId7"/>
    <p:sldId id="262" r:id="rId8"/>
    <p:sldId id="269" r:id="rId9"/>
    <p:sldId id="267"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523" autoAdjust="0"/>
  </p:normalViewPr>
  <p:slideViewPr>
    <p:cSldViewPr snapToGrid="0" snapToObjects="1">
      <p:cViewPr varScale="1">
        <p:scale>
          <a:sx n="124" d="100"/>
          <a:sy n="124" d="100"/>
        </p:scale>
        <p:origin x="15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733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Hi, we are [names]. We built a model that predicts which credit card customers may miss next month's payment, and we built the MLOps setup around it: tracking, a model registry, an API and Docker.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Banks often only find out about a default when it is already too late. So we predict, for each customer, the probability of defaulting next month. The output is a risk score for an analyst to review; the model does not approve or reject anyone. We used a public Kaggle dataset with 30,000 customers from Taiwan.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These are our six steps and the tool for each one: pandas to explore the data, scikit-learn to train, MLflow to track the runs and to register the best model, FastAPI to serve predictions, and Docker to run everything the same way on any laptop. Steps one to four run with a single command. Monitoring is the step we did not build yet.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We started by exploring the data in a notebook. [Point at the chart] Only 22% of customers default. That is important: a model that says "no default" to everyone is already 78% accurate and useless, so we did not judge our models on accuracy. We also used a stratified split, so the training and test sets keep the same 22%.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Training runs with one command. [Point at the table] It trains Logistic Regression and Random Forest and prints this comparison. The cleaning steps and the model are saved together as one pipeline, so the API later applies exactly the same steps. We fixed the random seed, so anyone who runs it gets the same numbers.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Every time we train, </a:t>
            </a:r>
            <a:r>
              <a:rPr lang="en-US" dirty="0" err="1"/>
              <a:t>MLflow</a:t>
            </a:r>
            <a:r>
              <a:rPr lang="en-US" dirty="0"/>
              <a:t> saves a run for each model automatically. [Point at the list] Here are our two runs. Each one keeps the parameters, the metrics, the charts and the model file itself. [Point at the compare view] And we can compare them side by side, so we always know which settings produced which result.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The script compares the two runs on ROC-AUC, which measures how well the model ranks risky customers above safe ones. [Point at the chart] Random Forest wins, 0.775 against 0.745. The script then registers the winner in the MLflow Model Registry. [Point at the screenshot] You can see it here as credit_default_model with the alias champion. Nobody picks it by hand. It catches 58% of the defaulters, so it is an early warning, not a perfect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sec] The API loads the champion model from MLflow. We sent one customer's data to /predict and [point at the top] got back a 77% probability of default, so the label is high risk. The answer also says it came from model version 1, the one we saw in the registry, and reminds the user that a human must review the score. [Point at the right] And if the input is wrong, here an age of 150, the API rejects it with error 422 before it ever reaches the model.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Everything runs in Docker. [Point at the left] MLflow and the API run as two containers, on ports 5000 and 8000, and on the right you can see their live activity. The trainer is a third container that only runs when we train and is removed afterwards. To run the project, a teammate only needs Git, Docker and the data file. We also have automated tests that run on every push to GitHub.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To sum up: our experiments are tracked in MLflow, the best model is registered automatically, it is served through an API, and everything runs with Docker. Next, we would add monitoring to see if the model gets worse over time, version the data, and agree the decision threshold with the business. And since credit scoring is high-risk under the EU AI Act, we would need fairness checks, a human reviewing every decision, and proper data protection.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questions. Why not accuracy? Saying "no default" to everyone is already 77.9% accurate, almost the same as our model. Why threshold 0.5? It is the default; the business should set it based on the cost of a missed defaulter versus a false alarm. Is Random Forest really better? On this split yes; cross-validation would confirm it. Monitoring? Next step, for example with Evidently.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8.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21.png"/><Relationship Id="rId5" Type="http://schemas.openxmlformats.org/officeDocument/2006/relationships/image" Target="../media/image6.png"/><Relationship Id="rId10"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7.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7.pn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19.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2.png"/><Relationship Id="rId10" Type="http://schemas.openxmlformats.org/officeDocument/2006/relationships/image" Target="../media/image29.png"/><Relationship Id="rId4" Type="http://schemas.openxmlformats.org/officeDocument/2006/relationships/image" Target="../media/image19.png"/><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ctr"/>
          <a:lstStyle/>
          <a:p>
            <a:pPr marL="0" indent="0">
              <a:buNone/>
            </a:pPr>
            <a:r>
              <a:rPr lang="en-US" sz="1400" b="1" kern="0" spc="300" dirty="0">
                <a:solidFill>
                  <a:srgbClr val="34D399"/>
                </a:solidFill>
                <a:latin typeface="Calibri" pitchFamily="34" charset="0"/>
                <a:ea typeface="Calibri" pitchFamily="34" charset="-122"/>
                <a:cs typeface="Calibri" pitchFamily="34" charset="-120"/>
              </a:rPr>
              <a:t>MACHINE LEARNING OPERATIONS · MINI-PROJECT</a:t>
            </a:r>
            <a:endParaRPr lang="en-US" sz="1400" dirty="0"/>
          </a:p>
        </p:txBody>
      </p:sp>
      <p:sp>
        <p:nvSpPr>
          <p:cNvPr id="3" name="Text 1"/>
          <p:cNvSpPr txBox="1"/>
          <p:nvPr/>
        </p:nvSpPr>
        <p:spPr>
          <a:xfrm>
            <a:off x="731520" y="2560320"/>
            <a:ext cx="10789920" cy="14630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Credit Default Risk Prediction with MLOps</a:t>
            </a:r>
            <a:endParaRPr lang="en-US" sz="4400" dirty="0"/>
          </a:p>
        </p:txBody>
      </p:sp>
      <p:sp>
        <p:nvSpPr>
          <p:cNvPr id="4" name="Text 2"/>
          <p:cNvSpPr txBox="1"/>
          <p:nvPr/>
        </p:nvSpPr>
        <p:spPr>
          <a:xfrm>
            <a:off x="731520" y="4754880"/>
            <a:ext cx="10058400" cy="365760"/>
          </a:xfrm>
          <a:prstGeom prst="rect">
            <a:avLst/>
          </a:prstGeom>
          <a:noFill/>
          <a:ln/>
        </p:spPr>
        <p:txBody>
          <a:bodyPr wrap="square" lIns="0" tIns="0" rIns="0" bIns="0" rtlCol="0" anchor="ctr"/>
          <a:lstStyle/>
          <a:p>
            <a:pPr marL="0" indent="0">
              <a:buNone/>
            </a:pPr>
            <a:r>
              <a:rPr lang="en-US" sz="1600" dirty="0">
                <a:solidFill>
                  <a:srgbClr val="CBD5E1"/>
                </a:solidFill>
                <a:latin typeface="Calibri" pitchFamily="34" charset="0"/>
                <a:ea typeface="Calibri" pitchFamily="34" charset="-122"/>
                <a:cs typeface="Calibri" pitchFamily="34" charset="-120"/>
              </a:rPr>
              <a:t>Fabrício Olo</a:t>
            </a:r>
          </a:p>
          <a:p>
            <a:pPr marL="0" indent="0">
              <a:buNone/>
            </a:pPr>
            <a:r>
              <a:rPr lang="en-US" sz="1600" dirty="0">
                <a:solidFill>
                  <a:srgbClr val="CBD5E1"/>
                </a:solidFill>
                <a:latin typeface="Calibri" pitchFamily="34" charset="0"/>
                <a:ea typeface="Calibri" pitchFamily="34" charset="-122"/>
                <a:cs typeface="Calibri" pitchFamily="34" charset="-120"/>
              </a:rPr>
              <a:t>Hugo Lima</a:t>
            </a:r>
          </a:p>
          <a:p>
            <a:pPr marL="0" indent="0">
              <a:buNone/>
            </a:pPr>
            <a:r>
              <a:rPr lang="en-US" sz="1600" dirty="0">
                <a:solidFill>
                  <a:srgbClr val="CBD5E1"/>
                </a:solidFill>
                <a:latin typeface="Calibri" pitchFamily="34" charset="0"/>
                <a:ea typeface="Calibri" pitchFamily="34" charset="-122"/>
                <a:cs typeface="Calibri" pitchFamily="34" charset="-120"/>
              </a:rPr>
              <a:t>Maria Teresa Neves</a:t>
            </a:r>
          </a:p>
          <a:p>
            <a:pPr marL="0" indent="0">
              <a:buNone/>
            </a:pPr>
            <a:r>
              <a:rPr lang="en-US" sz="1600" dirty="0">
                <a:solidFill>
                  <a:srgbClr val="CBD5E1"/>
                </a:solidFill>
                <a:latin typeface="Calibri" pitchFamily="34" charset="0"/>
                <a:ea typeface="Calibri" pitchFamily="34" charset="-122"/>
                <a:cs typeface="Calibri" pitchFamily="34" charset="-120"/>
              </a:rPr>
              <a:t>Olívia Rua</a:t>
            </a:r>
          </a:p>
          <a:p>
            <a:pPr marL="0" indent="0">
              <a:buNone/>
            </a:pPr>
            <a:r>
              <a:rPr lang="en-US" sz="1600" dirty="0">
                <a:solidFill>
                  <a:srgbClr val="CBD5E1"/>
                </a:solidFill>
                <a:latin typeface="Calibri" pitchFamily="34" charset="0"/>
                <a:ea typeface="Calibri" pitchFamily="34" charset="-122"/>
                <a:cs typeface="Calibri" pitchFamily="34" charset="-120"/>
              </a:rPr>
              <a:t>Pedro Martim Lota</a:t>
            </a:r>
          </a:p>
          <a:p>
            <a:pPr marL="0" indent="0">
              <a:buNone/>
            </a:pPr>
            <a:endParaRPr lang="en-US" sz="1600" dirty="0"/>
          </a:p>
        </p:txBody>
      </p:sp>
      <p:sp>
        <p:nvSpPr>
          <p:cNvPr id="5" name="Text 3"/>
          <p:cNvSpPr txBox="1"/>
          <p:nvPr/>
        </p:nvSpPr>
        <p:spPr>
          <a:xfrm>
            <a:off x="731520" y="5669280"/>
            <a:ext cx="10515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Executive Master in Business Analytics &amp; AI · Porto Business School · 1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Which customers will miss their next payment?</a:t>
            </a:r>
            <a:endParaRPr lang="en-US" sz="3200" dirty="0"/>
          </a:p>
        </p:txBody>
      </p:sp>
      <p:sp>
        <p:nvSpPr>
          <p:cNvPr id="4" name="Shape 2"/>
          <p:cNvSpPr/>
          <p:nvPr/>
        </p:nvSpPr>
        <p:spPr>
          <a:xfrm>
            <a:off x="548640" y="1920240"/>
            <a:ext cx="731520" cy="731520"/>
          </a:xfrm>
          <a:prstGeom prst="ellipse">
            <a:avLst/>
          </a:prstGeom>
          <a:solidFill>
            <a:srgbClr val="E5484D"/>
          </a:solidFill>
          <a:ln w="12700">
            <a:solidFill>
              <a:srgbClr val="E5484D"/>
            </a:solidFill>
            <a:prstDash val="solid"/>
          </a:ln>
        </p:spPr>
        <p:txBody>
          <a:bodyPr/>
          <a:lstStyle/>
          <a:p>
            <a:endParaRPr lang="pt-PT"/>
          </a:p>
        </p:txBody>
      </p:sp>
      <p:pic>
        <p:nvPicPr>
          <p:cNvPr id="5" name="Image 0" descr="preencoded.png"/>
          <p:cNvPicPr>
            <a:picLocks noChangeAspect="1"/>
          </p:cNvPicPr>
          <p:nvPr/>
        </p:nvPicPr>
        <p:blipFill>
          <a:blip r:embed="rId3"/>
          <a:stretch>
            <a:fillRect/>
          </a:stretch>
        </p:blipFill>
        <p:spPr>
          <a:xfrm>
            <a:off x="709574" y="2081174"/>
            <a:ext cx="409651" cy="409651"/>
          </a:xfrm>
          <a:prstGeom prst="rect">
            <a:avLst/>
          </a:prstGeom>
        </p:spPr>
      </p:pic>
      <p:sp>
        <p:nvSpPr>
          <p:cNvPr id="6" name="Text 3"/>
          <p:cNvSpPr txBox="1"/>
          <p:nvPr/>
        </p:nvSpPr>
        <p:spPr>
          <a:xfrm>
            <a:off x="1554480" y="192024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Banks often find out about a default when it is too late to help.</a:t>
            </a:r>
            <a:endParaRPr lang="en-US" sz="1900" dirty="0"/>
          </a:p>
        </p:txBody>
      </p:sp>
      <p:sp>
        <p:nvSpPr>
          <p:cNvPr id="7" name="Shape 4"/>
          <p:cNvSpPr/>
          <p:nvPr/>
        </p:nvSpPr>
        <p:spPr>
          <a:xfrm>
            <a:off x="548640" y="3108960"/>
            <a:ext cx="731520" cy="731520"/>
          </a:xfrm>
          <a:prstGeom prst="ellipse">
            <a:avLst/>
          </a:prstGeom>
          <a:solidFill>
            <a:srgbClr val="0F766E"/>
          </a:solidFill>
          <a:ln w="12700">
            <a:solidFill>
              <a:srgbClr val="0F766E"/>
            </a:solidFill>
            <a:prstDash val="solid"/>
          </a:ln>
        </p:spPr>
        <p:txBody>
          <a:bodyPr/>
          <a:lstStyle/>
          <a:p>
            <a:endParaRPr lang="pt-PT"/>
          </a:p>
        </p:txBody>
      </p:sp>
      <p:pic>
        <p:nvPicPr>
          <p:cNvPr id="8" name="Image 1" descr="preencoded.png"/>
          <p:cNvPicPr>
            <a:picLocks noChangeAspect="1"/>
          </p:cNvPicPr>
          <p:nvPr/>
        </p:nvPicPr>
        <p:blipFill>
          <a:blip r:embed="rId4"/>
          <a:stretch>
            <a:fillRect/>
          </a:stretch>
        </p:blipFill>
        <p:spPr>
          <a:xfrm>
            <a:off x="709574" y="3269894"/>
            <a:ext cx="409651" cy="409651"/>
          </a:xfrm>
          <a:prstGeom prst="rect">
            <a:avLst/>
          </a:prstGeom>
        </p:spPr>
      </p:pic>
      <p:sp>
        <p:nvSpPr>
          <p:cNvPr id="9" name="Text 5"/>
          <p:cNvSpPr txBox="1"/>
          <p:nvPr/>
        </p:nvSpPr>
        <p:spPr>
          <a:xfrm>
            <a:off x="1554480" y="310896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We predict the probability that each customer defaults next month.</a:t>
            </a:r>
            <a:endParaRPr lang="en-US" sz="1900" dirty="0"/>
          </a:p>
        </p:txBody>
      </p:sp>
      <p:sp>
        <p:nvSpPr>
          <p:cNvPr id="10" name="Shape 6"/>
          <p:cNvSpPr/>
          <p:nvPr/>
        </p:nvSpPr>
        <p:spPr>
          <a:xfrm>
            <a:off x="548640" y="4297680"/>
            <a:ext cx="731520" cy="731520"/>
          </a:xfrm>
          <a:prstGeom prst="ellipse">
            <a:avLst/>
          </a:prstGeom>
          <a:solidFill>
            <a:srgbClr val="2563EB"/>
          </a:solidFill>
          <a:ln w="12700">
            <a:solidFill>
              <a:srgbClr val="2563EB"/>
            </a:solidFill>
            <a:prstDash val="solid"/>
          </a:ln>
        </p:spPr>
        <p:txBody>
          <a:bodyPr/>
          <a:lstStyle/>
          <a:p>
            <a:endParaRPr lang="pt-PT"/>
          </a:p>
        </p:txBody>
      </p:sp>
      <p:pic>
        <p:nvPicPr>
          <p:cNvPr id="11" name="Image 2" descr="preencoded.png"/>
          <p:cNvPicPr>
            <a:picLocks noChangeAspect="1"/>
          </p:cNvPicPr>
          <p:nvPr/>
        </p:nvPicPr>
        <p:blipFill>
          <a:blip r:embed="rId5"/>
          <a:stretch>
            <a:fillRect/>
          </a:stretch>
        </p:blipFill>
        <p:spPr>
          <a:xfrm>
            <a:off x="709574" y="4458614"/>
            <a:ext cx="409651" cy="409651"/>
          </a:xfrm>
          <a:prstGeom prst="rect">
            <a:avLst/>
          </a:prstGeom>
        </p:spPr>
      </p:pic>
      <p:sp>
        <p:nvSpPr>
          <p:cNvPr id="12" name="Text 7"/>
          <p:cNvSpPr txBox="1"/>
          <p:nvPr/>
        </p:nvSpPr>
        <p:spPr>
          <a:xfrm>
            <a:off x="1554480" y="4297680"/>
            <a:ext cx="5669280" cy="731520"/>
          </a:xfrm>
          <a:prstGeom prst="rect">
            <a:avLst/>
          </a:prstGeom>
          <a:noFill/>
          <a:ln/>
        </p:spPr>
        <p:txBody>
          <a:bodyPr wrap="square" lIns="0" tIns="0" rIns="0" bIns="0" rtlCol="0" anchor="ctr"/>
          <a:lstStyle/>
          <a:p>
            <a:pPr marL="0" indent="0">
              <a:buNone/>
            </a:pPr>
            <a:r>
              <a:rPr lang="en-US" sz="1900" dirty="0">
                <a:solidFill>
                  <a:srgbClr val="1E293B"/>
                </a:solidFill>
                <a:latin typeface="Calibri" pitchFamily="34" charset="0"/>
                <a:ea typeface="Calibri" pitchFamily="34" charset="-122"/>
                <a:cs typeface="Calibri" pitchFamily="34" charset="-120"/>
              </a:rPr>
              <a:t>An analyst reviews the flagged customers. The model does not decide.</a:t>
            </a:r>
            <a:endParaRPr lang="en-US" sz="1900" dirty="0"/>
          </a:p>
        </p:txBody>
      </p:sp>
      <p:sp>
        <p:nvSpPr>
          <p:cNvPr id="13" name="Shape 8"/>
          <p:cNvSpPr/>
          <p:nvPr/>
        </p:nvSpPr>
        <p:spPr>
          <a:xfrm>
            <a:off x="7772400" y="1920240"/>
            <a:ext cx="3840480" cy="3108960"/>
          </a:xfrm>
          <a:prstGeom prst="roundRect">
            <a:avLst>
              <a:gd name="adj" fmla="val 3529"/>
            </a:avLst>
          </a:prstGeom>
          <a:solidFill>
            <a:srgbClr val="F1F5F9"/>
          </a:solidFill>
          <a:ln w="12700">
            <a:solidFill>
              <a:srgbClr val="F1F5F9"/>
            </a:solidFill>
            <a:prstDash val="solid"/>
          </a:ln>
        </p:spPr>
        <p:txBody>
          <a:bodyPr/>
          <a:lstStyle/>
          <a:p>
            <a:endParaRPr lang="pt-PT"/>
          </a:p>
        </p:txBody>
      </p:sp>
      <p:sp>
        <p:nvSpPr>
          <p:cNvPr id="14" name="Text 9"/>
          <p:cNvSpPr txBox="1"/>
          <p:nvPr/>
        </p:nvSpPr>
        <p:spPr>
          <a:xfrm>
            <a:off x="8092440" y="2148840"/>
            <a:ext cx="3200400" cy="274320"/>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DATASET</a:t>
            </a:r>
            <a:endParaRPr lang="en-US" sz="1200" dirty="0"/>
          </a:p>
        </p:txBody>
      </p:sp>
      <p:sp>
        <p:nvSpPr>
          <p:cNvPr id="15" name="Text 10"/>
          <p:cNvSpPr txBox="1"/>
          <p:nvPr/>
        </p:nvSpPr>
        <p:spPr>
          <a:xfrm>
            <a:off x="8092440" y="2468880"/>
            <a:ext cx="3291840" cy="594360"/>
          </a:xfrm>
          <a:prstGeom prst="rect">
            <a:avLst/>
          </a:prstGeom>
          <a:noFill/>
          <a:ln/>
        </p:spPr>
        <p:txBody>
          <a:bodyPr wrap="square" lIns="0" tIns="0" rIns="0" bIns="0" rtlCol="0" anchor="ctr"/>
          <a:lstStyle/>
          <a:p>
            <a:pPr marL="0" indent="0">
              <a:buNone/>
            </a:pPr>
            <a:r>
              <a:rPr lang="en-US" sz="1500" b="1" dirty="0">
                <a:solidFill>
                  <a:srgbClr val="0B1F33"/>
                </a:solidFill>
                <a:latin typeface="Calibri" pitchFamily="34" charset="0"/>
                <a:ea typeface="Calibri" pitchFamily="34" charset="-122"/>
                <a:cs typeface="Calibri" pitchFamily="34" charset="-120"/>
              </a:rPr>
              <a:t>Default of Credit Card Clients (Kaggle / UCI)</a:t>
            </a:r>
            <a:endParaRPr lang="en-US" sz="1500" dirty="0"/>
          </a:p>
        </p:txBody>
      </p:sp>
      <p:sp>
        <p:nvSpPr>
          <p:cNvPr id="16" name="Text 11"/>
          <p:cNvSpPr txBox="1"/>
          <p:nvPr/>
        </p:nvSpPr>
        <p:spPr>
          <a:xfrm>
            <a:off x="809244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30,000 customers, Taiwan 2005</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23 features: credit limit, age, 6 months of payments and bills</a:t>
            </a:r>
            <a:endParaRPr lang="en-US" sz="1400" dirty="0"/>
          </a:p>
          <a:p>
            <a:pPr marL="342900" indent="-342900">
              <a:spcAft>
                <a:spcPts val="600"/>
              </a:spcAft>
              <a:buSzPct val="100000"/>
              <a:buChar char="•"/>
            </a:pPr>
            <a:r>
              <a:rPr lang="en-US" sz="1400" dirty="0">
                <a:solidFill>
                  <a:srgbClr val="1E293B"/>
                </a:solidFill>
                <a:latin typeface="Calibri" pitchFamily="34" charset="0"/>
                <a:ea typeface="Calibri" pitchFamily="34" charset="-122"/>
                <a:cs typeface="Calibri" pitchFamily="34" charset="-120"/>
              </a:rPr>
              <a:t>Target: default next month (yes / no)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HOW WE BUILT IT</a:t>
            </a:r>
            <a:endParaRPr lang="en-US" sz="1300" dirty="0"/>
          </a:p>
        </p:txBody>
      </p:sp>
      <p:sp>
        <p:nvSpPr>
          <p:cNvPr id="3" name="Text 1"/>
          <p:cNvSpPr txBox="1"/>
          <p:nvPr/>
        </p:nvSpPr>
        <p:spPr>
          <a:xfrm>
            <a:off x="548640" y="777240"/>
            <a:ext cx="11064240" cy="731520"/>
          </a:xfrm>
          <a:prstGeom prst="rect">
            <a:avLst/>
          </a:prstGeom>
          <a:noFill/>
          <a:ln/>
        </p:spPr>
        <p:txBody>
          <a:bodyPr wrap="square" lIns="0" tIns="0" rIns="0" bIns="0" rtlCol="0" anchor="ctr"/>
          <a:lstStyle/>
          <a:p>
            <a:pPr marL="0" indent="0">
              <a:buNone/>
            </a:pPr>
            <a:r>
              <a:rPr lang="en-US" sz="3200" b="1" dirty="0">
                <a:solidFill>
                  <a:srgbClr val="0B1F33"/>
                </a:solidFill>
                <a:latin typeface="Cambria" pitchFamily="34" charset="0"/>
                <a:ea typeface="Cambria" pitchFamily="34" charset="-122"/>
                <a:cs typeface="Cambria" pitchFamily="34" charset="-120"/>
              </a:rPr>
              <a:t>Our pipeline and the tools we used</a:t>
            </a:r>
            <a:endParaRPr lang="en-US" sz="3200" dirty="0"/>
          </a:p>
        </p:txBody>
      </p:sp>
      <p:sp>
        <p:nvSpPr>
          <p:cNvPr id="4" name="Shape 2"/>
          <p:cNvSpPr/>
          <p:nvPr/>
        </p:nvSpPr>
        <p:spPr>
          <a:xfrm>
            <a:off x="881743"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5" name="Image 0" descr="preencoded.png"/>
          <p:cNvPicPr>
            <a:picLocks noChangeAspect="1"/>
          </p:cNvPicPr>
          <p:nvPr/>
        </p:nvPicPr>
        <p:blipFill>
          <a:blip r:embed="rId3"/>
          <a:stretch>
            <a:fillRect/>
          </a:stretch>
        </p:blipFill>
        <p:spPr>
          <a:xfrm>
            <a:off x="1082911" y="2029968"/>
            <a:ext cx="512064" cy="512064"/>
          </a:xfrm>
          <a:prstGeom prst="rect">
            <a:avLst/>
          </a:prstGeom>
        </p:spPr>
      </p:pic>
      <p:sp>
        <p:nvSpPr>
          <p:cNvPr id="6" name="Text 3"/>
          <p:cNvSpPr txBox="1"/>
          <p:nvPr/>
        </p:nvSpPr>
        <p:spPr>
          <a:xfrm>
            <a:off x="576072"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1. Data</a:t>
            </a:r>
            <a:endParaRPr lang="en-US" sz="1600" dirty="0"/>
          </a:p>
        </p:txBody>
      </p:sp>
      <p:sp>
        <p:nvSpPr>
          <p:cNvPr id="7" name="Text 4"/>
          <p:cNvSpPr txBox="1"/>
          <p:nvPr/>
        </p:nvSpPr>
        <p:spPr>
          <a:xfrm>
            <a:off x="576072"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Explore &amp; split</a:t>
            </a:r>
            <a:endParaRPr lang="en-US" sz="1300" dirty="0"/>
          </a:p>
        </p:txBody>
      </p:sp>
      <p:sp>
        <p:nvSpPr>
          <p:cNvPr id="8" name="Shape 5"/>
          <p:cNvSpPr/>
          <p:nvPr/>
        </p:nvSpPr>
        <p:spPr>
          <a:xfrm>
            <a:off x="1869295" y="2286000"/>
            <a:ext cx="519902" cy="0"/>
          </a:xfrm>
          <a:prstGeom prst="line">
            <a:avLst/>
          </a:prstGeom>
          <a:noFill/>
          <a:ln w="19050">
            <a:solidFill>
              <a:srgbClr val="64748B"/>
            </a:solidFill>
            <a:prstDash val="solid"/>
            <a:tailEnd type="triangle"/>
          </a:ln>
        </p:spPr>
        <p:txBody>
          <a:bodyPr/>
          <a:lstStyle/>
          <a:p>
            <a:endParaRPr lang="pt-PT"/>
          </a:p>
        </p:txBody>
      </p:sp>
      <p:sp>
        <p:nvSpPr>
          <p:cNvPr id="9" name="Shape 6"/>
          <p:cNvSpPr/>
          <p:nvPr/>
        </p:nvSpPr>
        <p:spPr>
          <a:xfrm>
            <a:off x="2462349"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10" name="Image 1" descr="preencoded.png"/>
          <p:cNvPicPr>
            <a:picLocks noChangeAspect="1"/>
          </p:cNvPicPr>
          <p:nvPr/>
        </p:nvPicPr>
        <p:blipFill>
          <a:blip r:embed="rId4"/>
          <a:stretch>
            <a:fillRect/>
          </a:stretch>
        </p:blipFill>
        <p:spPr>
          <a:xfrm>
            <a:off x="2663517" y="2029968"/>
            <a:ext cx="512064" cy="512064"/>
          </a:xfrm>
          <a:prstGeom prst="rect">
            <a:avLst/>
          </a:prstGeom>
        </p:spPr>
      </p:pic>
      <p:sp>
        <p:nvSpPr>
          <p:cNvPr id="11" name="Text 7"/>
          <p:cNvSpPr txBox="1"/>
          <p:nvPr/>
        </p:nvSpPr>
        <p:spPr>
          <a:xfrm>
            <a:off x="2156678"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2. Train</a:t>
            </a:r>
            <a:endParaRPr lang="en-US" sz="1600" dirty="0"/>
          </a:p>
        </p:txBody>
      </p:sp>
      <p:sp>
        <p:nvSpPr>
          <p:cNvPr id="12" name="Text 8"/>
          <p:cNvSpPr txBox="1"/>
          <p:nvPr/>
        </p:nvSpPr>
        <p:spPr>
          <a:xfrm>
            <a:off x="2156678"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Train 2 models</a:t>
            </a:r>
            <a:endParaRPr lang="en-US" sz="1300" dirty="0"/>
          </a:p>
        </p:txBody>
      </p:sp>
      <p:sp>
        <p:nvSpPr>
          <p:cNvPr id="13" name="Shape 9"/>
          <p:cNvSpPr/>
          <p:nvPr/>
        </p:nvSpPr>
        <p:spPr>
          <a:xfrm>
            <a:off x="3449901" y="2286000"/>
            <a:ext cx="519902" cy="0"/>
          </a:xfrm>
          <a:prstGeom prst="line">
            <a:avLst/>
          </a:prstGeom>
          <a:noFill/>
          <a:ln w="19050">
            <a:solidFill>
              <a:srgbClr val="64748B"/>
            </a:solidFill>
            <a:prstDash val="solid"/>
            <a:tailEnd type="triangle"/>
          </a:ln>
        </p:spPr>
        <p:txBody>
          <a:bodyPr/>
          <a:lstStyle/>
          <a:p>
            <a:endParaRPr lang="pt-PT"/>
          </a:p>
        </p:txBody>
      </p:sp>
      <p:sp>
        <p:nvSpPr>
          <p:cNvPr id="14" name="Shape 10"/>
          <p:cNvSpPr/>
          <p:nvPr/>
        </p:nvSpPr>
        <p:spPr>
          <a:xfrm>
            <a:off x="4042954"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15" name="Image 2" descr="preencoded.png"/>
          <p:cNvPicPr>
            <a:picLocks noChangeAspect="1"/>
          </p:cNvPicPr>
          <p:nvPr/>
        </p:nvPicPr>
        <p:blipFill>
          <a:blip r:embed="rId5"/>
          <a:stretch>
            <a:fillRect/>
          </a:stretch>
        </p:blipFill>
        <p:spPr>
          <a:xfrm>
            <a:off x="4244122" y="2029968"/>
            <a:ext cx="512064" cy="512064"/>
          </a:xfrm>
          <a:prstGeom prst="rect">
            <a:avLst/>
          </a:prstGeom>
        </p:spPr>
      </p:pic>
      <p:sp>
        <p:nvSpPr>
          <p:cNvPr id="16" name="Text 11"/>
          <p:cNvSpPr txBox="1"/>
          <p:nvPr/>
        </p:nvSpPr>
        <p:spPr>
          <a:xfrm>
            <a:off x="3737283"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3. Track</a:t>
            </a:r>
            <a:endParaRPr lang="en-US" sz="1600" dirty="0"/>
          </a:p>
        </p:txBody>
      </p:sp>
      <p:sp>
        <p:nvSpPr>
          <p:cNvPr id="17" name="Text 12"/>
          <p:cNvSpPr txBox="1"/>
          <p:nvPr/>
        </p:nvSpPr>
        <p:spPr>
          <a:xfrm>
            <a:off x="3737283"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Log every run</a:t>
            </a:r>
            <a:endParaRPr lang="en-US" sz="1300" dirty="0"/>
          </a:p>
        </p:txBody>
      </p:sp>
      <p:sp>
        <p:nvSpPr>
          <p:cNvPr id="18" name="Shape 13"/>
          <p:cNvSpPr/>
          <p:nvPr/>
        </p:nvSpPr>
        <p:spPr>
          <a:xfrm>
            <a:off x="5030506" y="2286000"/>
            <a:ext cx="519902" cy="0"/>
          </a:xfrm>
          <a:prstGeom prst="line">
            <a:avLst/>
          </a:prstGeom>
          <a:noFill/>
          <a:ln w="19050">
            <a:solidFill>
              <a:srgbClr val="64748B"/>
            </a:solidFill>
            <a:prstDash val="solid"/>
            <a:tailEnd type="triangle"/>
          </a:ln>
        </p:spPr>
        <p:txBody>
          <a:bodyPr/>
          <a:lstStyle/>
          <a:p>
            <a:endParaRPr lang="pt-PT"/>
          </a:p>
        </p:txBody>
      </p:sp>
      <p:sp>
        <p:nvSpPr>
          <p:cNvPr id="19" name="Shape 14"/>
          <p:cNvSpPr/>
          <p:nvPr/>
        </p:nvSpPr>
        <p:spPr>
          <a:xfrm>
            <a:off x="5623560"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20" name="Image 3" descr="preencoded.png"/>
          <p:cNvPicPr>
            <a:picLocks noChangeAspect="1"/>
          </p:cNvPicPr>
          <p:nvPr/>
        </p:nvPicPr>
        <p:blipFill>
          <a:blip r:embed="rId6"/>
          <a:stretch>
            <a:fillRect/>
          </a:stretch>
        </p:blipFill>
        <p:spPr>
          <a:xfrm>
            <a:off x="5824728" y="2029968"/>
            <a:ext cx="512064" cy="512064"/>
          </a:xfrm>
          <a:prstGeom prst="rect">
            <a:avLst/>
          </a:prstGeom>
        </p:spPr>
      </p:pic>
      <p:sp>
        <p:nvSpPr>
          <p:cNvPr id="21" name="Text 15"/>
          <p:cNvSpPr txBox="1"/>
          <p:nvPr/>
        </p:nvSpPr>
        <p:spPr>
          <a:xfrm>
            <a:off x="5317889"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4. Register</a:t>
            </a:r>
            <a:endParaRPr lang="en-US" sz="1600" dirty="0"/>
          </a:p>
        </p:txBody>
      </p:sp>
      <p:sp>
        <p:nvSpPr>
          <p:cNvPr id="22" name="Text 16"/>
          <p:cNvSpPr txBox="1"/>
          <p:nvPr/>
        </p:nvSpPr>
        <p:spPr>
          <a:xfrm>
            <a:off x="5317889"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Keep the best</a:t>
            </a:r>
            <a:endParaRPr lang="en-US" sz="1300" dirty="0"/>
          </a:p>
        </p:txBody>
      </p:sp>
      <p:sp>
        <p:nvSpPr>
          <p:cNvPr id="23" name="Shape 17"/>
          <p:cNvSpPr/>
          <p:nvPr/>
        </p:nvSpPr>
        <p:spPr>
          <a:xfrm>
            <a:off x="6611112" y="2286000"/>
            <a:ext cx="519902" cy="0"/>
          </a:xfrm>
          <a:prstGeom prst="line">
            <a:avLst/>
          </a:prstGeom>
          <a:noFill/>
          <a:ln w="19050">
            <a:solidFill>
              <a:srgbClr val="64748B"/>
            </a:solidFill>
            <a:prstDash val="solid"/>
            <a:tailEnd type="triangle"/>
          </a:ln>
        </p:spPr>
        <p:txBody>
          <a:bodyPr/>
          <a:lstStyle/>
          <a:p>
            <a:endParaRPr lang="pt-PT"/>
          </a:p>
        </p:txBody>
      </p:sp>
      <p:sp>
        <p:nvSpPr>
          <p:cNvPr id="24" name="Shape 18"/>
          <p:cNvSpPr/>
          <p:nvPr/>
        </p:nvSpPr>
        <p:spPr>
          <a:xfrm>
            <a:off x="7204166"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25" name="Image 4" descr="preencoded.png"/>
          <p:cNvPicPr>
            <a:picLocks noChangeAspect="1"/>
          </p:cNvPicPr>
          <p:nvPr/>
        </p:nvPicPr>
        <p:blipFill>
          <a:blip r:embed="rId7"/>
          <a:stretch>
            <a:fillRect/>
          </a:stretch>
        </p:blipFill>
        <p:spPr>
          <a:xfrm>
            <a:off x="7405334" y="2029968"/>
            <a:ext cx="512064" cy="512064"/>
          </a:xfrm>
          <a:prstGeom prst="rect">
            <a:avLst/>
          </a:prstGeom>
        </p:spPr>
      </p:pic>
      <p:sp>
        <p:nvSpPr>
          <p:cNvPr id="26" name="Text 19"/>
          <p:cNvSpPr txBox="1"/>
          <p:nvPr/>
        </p:nvSpPr>
        <p:spPr>
          <a:xfrm>
            <a:off x="6898495"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5. Serve</a:t>
            </a:r>
            <a:endParaRPr lang="en-US" sz="1600" dirty="0"/>
          </a:p>
        </p:txBody>
      </p:sp>
      <p:sp>
        <p:nvSpPr>
          <p:cNvPr id="27" name="Text 20"/>
          <p:cNvSpPr txBox="1"/>
          <p:nvPr/>
        </p:nvSpPr>
        <p:spPr>
          <a:xfrm>
            <a:off x="6898495"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Prediction API</a:t>
            </a:r>
            <a:endParaRPr lang="en-US" sz="1300" dirty="0"/>
          </a:p>
        </p:txBody>
      </p:sp>
      <p:sp>
        <p:nvSpPr>
          <p:cNvPr id="28" name="Shape 21"/>
          <p:cNvSpPr/>
          <p:nvPr/>
        </p:nvSpPr>
        <p:spPr>
          <a:xfrm>
            <a:off x="8191718" y="2286000"/>
            <a:ext cx="519902" cy="0"/>
          </a:xfrm>
          <a:prstGeom prst="line">
            <a:avLst/>
          </a:prstGeom>
          <a:noFill/>
          <a:ln w="19050">
            <a:solidFill>
              <a:srgbClr val="64748B"/>
            </a:solidFill>
            <a:prstDash val="solid"/>
            <a:tailEnd type="triangle"/>
          </a:ln>
        </p:spPr>
        <p:txBody>
          <a:bodyPr/>
          <a:lstStyle/>
          <a:p>
            <a:endParaRPr lang="pt-PT"/>
          </a:p>
        </p:txBody>
      </p:sp>
      <p:sp>
        <p:nvSpPr>
          <p:cNvPr id="29" name="Shape 22"/>
          <p:cNvSpPr/>
          <p:nvPr/>
        </p:nvSpPr>
        <p:spPr>
          <a:xfrm>
            <a:off x="8784771" y="1828800"/>
            <a:ext cx="914400" cy="914400"/>
          </a:xfrm>
          <a:prstGeom prst="ellipse">
            <a:avLst/>
          </a:prstGeom>
          <a:solidFill>
            <a:srgbClr val="0F766E"/>
          </a:solidFill>
          <a:ln w="12700">
            <a:solidFill>
              <a:srgbClr val="0F766E"/>
            </a:solidFill>
            <a:prstDash val="solid"/>
          </a:ln>
        </p:spPr>
        <p:txBody>
          <a:bodyPr/>
          <a:lstStyle/>
          <a:p>
            <a:endParaRPr lang="pt-PT"/>
          </a:p>
        </p:txBody>
      </p:sp>
      <p:pic>
        <p:nvPicPr>
          <p:cNvPr id="30" name="Image 5" descr="preencoded.png"/>
          <p:cNvPicPr>
            <a:picLocks noChangeAspect="1"/>
          </p:cNvPicPr>
          <p:nvPr/>
        </p:nvPicPr>
        <p:blipFill>
          <a:blip r:embed="rId8"/>
          <a:stretch>
            <a:fillRect/>
          </a:stretch>
        </p:blipFill>
        <p:spPr>
          <a:xfrm>
            <a:off x="8985939" y="2029968"/>
            <a:ext cx="512064" cy="512064"/>
          </a:xfrm>
          <a:prstGeom prst="rect">
            <a:avLst/>
          </a:prstGeom>
        </p:spPr>
      </p:pic>
      <p:sp>
        <p:nvSpPr>
          <p:cNvPr id="31" name="Text 23"/>
          <p:cNvSpPr txBox="1"/>
          <p:nvPr/>
        </p:nvSpPr>
        <p:spPr>
          <a:xfrm>
            <a:off x="8479101" y="2880360"/>
            <a:ext cx="1525742" cy="365760"/>
          </a:xfrm>
          <a:prstGeom prst="rect">
            <a:avLst/>
          </a:prstGeom>
          <a:noFill/>
          <a:ln/>
        </p:spPr>
        <p:txBody>
          <a:bodyPr wrap="square" lIns="0" tIns="0" rIns="0" bIns="0" rtlCol="0" anchor="ctr"/>
          <a:lstStyle/>
          <a:p>
            <a:pPr marL="0" indent="0" algn="ctr">
              <a:buNone/>
            </a:pPr>
            <a:r>
              <a:rPr lang="en-US" sz="1600" b="1" dirty="0">
                <a:solidFill>
                  <a:srgbClr val="0B1F33"/>
                </a:solidFill>
                <a:latin typeface="Calibri" pitchFamily="34" charset="0"/>
                <a:ea typeface="Calibri" pitchFamily="34" charset="-122"/>
                <a:cs typeface="Calibri" pitchFamily="34" charset="-120"/>
              </a:rPr>
              <a:t>6. Package</a:t>
            </a:r>
            <a:endParaRPr lang="en-US" sz="1600" dirty="0"/>
          </a:p>
        </p:txBody>
      </p:sp>
      <p:sp>
        <p:nvSpPr>
          <p:cNvPr id="32" name="Text 24"/>
          <p:cNvSpPr txBox="1"/>
          <p:nvPr/>
        </p:nvSpPr>
        <p:spPr>
          <a:xfrm>
            <a:off x="8479101"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Run anywhere</a:t>
            </a:r>
            <a:endParaRPr lang="en-US" sz="1300" dirty="0"/>
          </a:p>
        </p:txBody>
      </p:sp>
      <p:sp>
        <p:nvSpPr>
          <p:cNvPr id="33" name="Shape 25"/>
          <p:cNvSpPr/>
          <p:nvPr/>
        </p:nvSpPr>
        <p:spPr>
          <a:xfrm>
            <a:off x="9772323" y="2286000"/>
            <a:ext cx="519902" cy="0"/>
          </a:xfrm>
          <a:prstGeom prst="line">
            <a:avLst/>
          </a:prstGeom>
          <a:noFill/>
          <a:ln w="19050">
            <a:solidFill>
              <a:srgbClr val="64748B"/>
            </a:solidFill>
            <a:prstDash val="dash"/>
            <a:tailEnd type="triangle"/>
          </a:ln>
        </p:spPr>
        <p:txBody>
          <a:bodyPr/>
          <a:lstStyle/>
          <a:p>
            <a:endParaRPr lang="pt-PT"/>
          </a:p>
        </p:txBody>
      </p:sp>
      <p:sp>
        <p:nvSpPr>
          <p:cNvPr id="34" name="Shape 26"/>
          <p:cNvSpPr/>
          <p:nvPr/>
        </p:nvSpPr>
        <p:spPr>
          <a:xfrm>
            <a:off x="10365377" y="1828800"/>
            <a:ext cx="914400" cy="914400"/>
          </a:xfrm>
          <a:prstGeom prst="ellipse">
            <a:avLst/>
          </a:prstGeom>
          <a:solidFill>
            <a:srgbClr val="F1F5F9"/>
          </a:solidFill>
          <a:ln w="12700">
            <a:solidFill>
              <a:srgbClr val="F1F5F9"/>
            </a:solidFill>
            <a:prstDash val="solid"/>
          </a:ln>
        </p:spPr>
        <p:txBody>
          <a:bodyPr/>
          <a:lstStyle/>
          <a:p>
            <a:endParaRPr lang="pt-PT"/>
          </a:p>
        </p:txBody>
      </p:sp>
      <p:pic>
        <p:nvPicPr>
          <p:cNvPr id="35" name="Image 6" descr="preencoded.png"/>
          <p:cNvPicPr>
            <a:picLocks noChangeAspect="1"/>
          </p:cNvPicPr>
          <p:nvPr/>
        </p:nvPicPr>
        <p:blipFill>
          <a:blip r:embed="rId9"/>
          <a:stretch>
            <a:fillRect/>
          </a:stretch>
        </p:blipFill>
        <p:spPr>
          <a:xfrm>
            <a:off x="10566545" y="2029968"/>
            <a:ext cx="512064" cy="512064"/>
          </a:xfrm>
          <a:prstGeom prst="rect">
            <a:avLst/>
          </a:prstGeom>
        </p:spPr>
      </p:pic>
      <p:sp>
        <p:nvSpPr>
          <p:cNvPr id="36" name="Shape 27"/>
          <p:cNvSpPr/>
          <p:nvPr/>
        </p:nvSpPr>
        <p:spPr>
          <a:xfrm>
            <a:off x="10365377" y="1828800"/>
            <a:ext cx="914400" cy="914400"/>
          </a:xfrm>
          <a:prstGeom prst="ellipse">
            <a:avLst/>
          </a:prstGeom>
          <a:ln w="15875">
            <a:solidFill>
              <a:srgbClr val="64748B"/>
            </a:solidFill>
            <a:prstDash val="dash"/>
          </a:ln>
        </p:spPr>
        <p:txBody>
          <a:bodyPr/>
          <a:lstStyle/>
          <a:p>
            <a:endParaRPr lang="pt-PT"/>
          </a:p>
        </p:txBody>
      </p:sp>
      <p:sp>
        <p:nvSpPr>
          <p:cNvPr id="37" name="Text 28"/>
          <p:cNvSpPr txBox="1"/>
          <p:nvPr/>
        </p:nvSpPr>
        <p:spPr>
          <a:xfrm>
            <a:off x="10059706" y="2880360"/>
            <a:ext cx="1525742" cy="365760"/>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Monitor</a:t>
            </a:r>
            <a:endParaRPr lang="en-US" sz="1600" dirty="0"/>
          </a:p>
        </p:txBody>
      </p:sp>
      <p:sp>
        <p:nvSpPr>
          <p:cNvPr id="38" name="Text 29"/>
          <p:cNvSpPr txBox="1"/>
          <p:nvPr/>
        </p:nvSpPr>
        <p:spPr>
          <a:xfrm>
            <a:off x="10059706" y="3246120"/>
            <a:ext cx="1525742" cy="365760"/>
          </a:xfrm>
          <a:prstGeom prst="rect">
            <a:avLst/>
          </a:prstGeom>
          <a:noFill/>
          <a:ln/>
        </p:spPr>
        <p:txBody>
          <a:bodyPr wrap="square" lIns="0" tIns="0" rIns="0" bIns="0" rtlCol="0" anchor="ctr"/>
          <a:lstStyle/>
          <a:p>
            <a:pPr marL="0" indent="0" algn="ctr">
              <a:buNone/>
            </a:pPr>
            <a:r>
              <a:rPr lang="en-US" sz="1300" dirty="0">
                <a:solidFill>
                  <a:srgbClr val="64748B"/>
                </a:solidFill>
                <a:latin typeface="Calibri" pitchFamily="34" charset="0"/>
                <a:ea typeface="Calibri" pitchFamily="34" charset="-122"/>
                <a:cs typeface="Calibri" pitchFamily="34" charset="-120"/>
              </a:rPr>
              <a:t>Not built yet</a:t>
            </a:r>
            <a:endParaRPr lang="en-US" sz="1300" dirty="0"/>
          </a:p>
        </p:txBody>
      </p:sp>
      <p:sp>
        <p:nvSpPr>
          <p:cNvPr id="39" name="Text 30"/>
          <p:cNvSpPr txBox="1"/>
          <p:nvPr/>
        </p:nvSpPr>
        <p:spPr>
          <a:xfrm>
            <a:off x="548640" y="3977640"/>
            <a:ext cx="3657600" cy="274320"/>
          </a:xfrm>
          <a:prstGeom prst="rect">
            <a:avLst/>
          </a:prstGeom>
          <a:noFill/>
          <a:ln/>
        </p:spPr>
        <p:txBody>
          <a:bodyPr wrap="square" lIns="0" tIns="0" rIns="0" bIns="0" rtlCol="0" anchor="ctr"/>
          <a:lstStyle/>
          <a:p>
            <a:pPr marL="0" indent="0">
              <a:buNone/>
            </a:pPr>
            <a:r>
              <a:rPr lang="en-US" sz="1200" b="1" kern="0" spc="200" dirty="0">
                <a:solidFill>
                  <a:srgbClr val="0F766E"/>
                </a:solidFill>
                <a:latin typeface="Calibri" pitchFamily="34" charset="0"/>
                <a:ea typeface="Calibri" pitchFamily="34" charset="-122"/>
                <a:cs typeface="Calibri" pitchFamily="34" charset="-120"/>
              </a:rPr>
              <a:t>TOOLS</a:t>
            </a:r>
            <a:endParaRPr lang="en-US" sz="1200" dirty="0"/>
          </a:p>
        </p:txBody>
      </p:sp>
      <p:sp>
        <p:nvSpPr>
          <p:cNvPr id="40" name="Shape 31"/>
          <p:cNvSpPr/>
          <p:nvPr/>
        </p:nvSpPr>
        <p:spPr>
          <a:xfrm>
            <a:off x="548640" y="4297680"/>
            <a:ext cx="11064240" cy="1188720"/>
          </a:xfrm>
          <a:prstGeom prst="roundRect">
            <a:avLst>
              <a:gd name="adj" fmla="val 9231"/>
            </a:avLst>
          </a:prstGeom>
          <a:solidFill>
            <a:srgbClr val="0B1F33"/>
          </a:solidFill>
          <a:ln w="12700">
            <a:solidFill>
              <a:srgbClr val="0B1F33"/>
            </a:solidFill>
            <a:prstDash val="solid"/>
          </a:ln>
        </p:spPr>
        <p:txBody>
          <a:bodyPr/>
          <a:lstStyle/>
          <a:p>
            <a:endParaRPr lang="pt-PT"/>
          </a:p>
        </p:txBody>
      </p:sp>
      <p:sp>
        <p:nvSpPr>
          <p:cNvPr id="41" name="Text 32"/>
          <p:cNvSpPr txBox="1"/>
          <p:nvPr/>
        </p:nvSpPr>
        <p:spPr>
          <a:xfrm>
            <a:off x="594360"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pandas</a:t>
            </a:r>
            <a:endParaRPr lang="en-US" sz="1500" dirty="0"/>
          </a:p>
        </p:txBody>
      </p:sp>
      <p:sp>
        <p:nvSpPr>
          <p:cNvPr id="42" name="Text 33"/>
          <p:cNvSpPr txBox="1"/>
          <p:nvPr/>
        </p:nvSpPr>
        <p:spPr>
          <a:xfrm>
            <a:off x="2174966"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scikit-learn</a:t>
            </a:r>
            <a:endParaRPr lang="en-US" sz="1500" dirty="0"/>
          </a:p>
        </p:txBody>
      </p:sp>
      <p:sp>
        <p:nvSpPr>
          <p:cNvPr id="43" name="Shape 34"/>
          <p:cNvSpPr/>
          <p:nvPr/>
        </p:nvSpPr>
        <p:spPr>
          <a:xfrm>
            <a:off x="2129246" y="4526280"/>
            <a:ext cx="0" cy="731520"/>
          </a:xfrm>
          <a:prstGeom prst="line">
            <a:avLst/>
          </a:prstGeom>
          <a:noFill/>
          <a:ln w="12700">
            <a:solidFill>
              <a:srgbClr val="2B4A66"/>
            </a:solidFill>
            <a:prstDash val="solid"/>
          </a:ln>
        </p:spPr>
        <p:txBody>
          <a:bodyPr/>
          <a:lstStyle/>
          <a:p>
            <a:endParaRPr lang="pt-PT"/>
          </a:p>
        </p:txBody>
      </p:sp>
      <p:sp>
        <p:nvSpPr>
          <p:cNvPr id="44" name="Text 35"/>
          <p:cNvSpPr txBox="1"/>
          <p:nvPr/>
        </p:nvSpPr>
        <p:spPr>
          <a:xfrm>
            <a:off x="3755571"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MLflow</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Tracking</a:t>
            </a:r>
            <a:endParaRPr lang="en-US" sz="1500" dirty="0"/>
          </a:p>
        </p:txBody>
      </p:sp>
      <p:sp>
        <p:nvSpPr>
          <p:cNvPr id="45" name="Shape 36"/>
          <p:cNvSpPr/>
          <p:nvPr/>
        </p:nvSpPr>
        <p:spPr>
          <a:xfrm>
            <a:off x="3709851" y="4526280"/>
            <a:ext cx="0" cy="731520"/>
          </a:xfrm>
          <a:prstGeom prst="line">
            <a:avLst/>
          </a:prstGeom>
          <a:noFill/>
          <a:ln w="12700">
            <a:solidFill>
              <a:srgbClr val="2B4A66"/>
            </a:solidFill>
            <a:prstDash val="solid"/>
          </a:ln>
        </p:spPr>
        <p:txBody>
          <a:bodyPr/>
          <a:lstStyle/>
          <a:p>
            <a:endParaRPr lang="pt-PT"/>
          </a:p>
        </p:txBody>
      </p:sp>
      <p:sp>
        <p:nvSpPr>
          <p:cNvPr id="46" name="Text 37"/>
          <p:cNvSpPr txBox="1"/>
          <p:nvPr/>
        </p:nvSpPr>
        <p:spPr>
          <a:xfrm>
            <a:off x="5336177"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MLflow</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Model Registry</a:t>
            </a:r>
            <a:endParaRPr lang="en-US" sz="1500" dirty="0"/>
          </a:p>
        </p:txBody>
      </p:sp>
      <p:sp>
        <p:nvSpPr>
          <p:cNvPr id="47" name="Shape 38"/>
          <p:cNvSpPr/>
          <p:nvPr/>
        </p:nvSpPr>
        <p:spPr>
          <a:xfrm>
            <a:off x="5290457" y="4526280"/>
            <a:ext cx="0" cy="731520"/>
          </a:xfrm>
          <a:prstGeom prst="line">
            <a:avLst/>
          </a:prstGeom>
          <a:noFill/>
          <a:ln w="12700">
            <a:solidFill>
              <a:srgbClr val="2B4A66"/>
            </a:solidFill>
            <a:prstDash val="solid"/>
          </a:ln>
        </p:spPr>
        <p:txBody>
          <a:bodyPr/>
          <a:lstStyle/>
          <a:p>
            <a:endParaRPr lang="pt-PT"/>
          </a:p>
        </p:txBody>
      </p:sp>
      <p:sp>
        <p:nvSpPr>
          <p:cNvPr id="48" name="Text 39"/>
          <p:cNvSpPr txBox="1"/>
          <p:nvPr/>
        </p:nvSpPr>
        <p:spPr>
          <a:xfrm>
            <a:off x="6916783"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p:txBody>
      </p:sp>
      <p:sp>
        <p:nvSpPr>
          <p:cNvPr id="49" name="Shape 40"/>
          <p:cNvSpPr/>
          <p:nvPr/>
        </p:nvSpPr>
        <p:spPr>
          <a:xfrm>
            <a:off x="6871063" y="4526280"/>
            <a:ext cx="0" cy="731520"/>
          </a:xfrm>
          <a:prstGeom prst="line">
            <a:avLst/>
          </a:prstGeom>
          <a:noFill/>
          <a:ln w="12700">
            <a:solidFill>
              <a:srgbClr val="2B4A66"/>
            </a:solidFill>
            <a:prstDash val="solid"/>
          </a:ln>
        </p:spPr>
        <p:txBody>
          <a:bodyPr/>
          <a:lstStyle/>
          <a:p>
            <a:endParaRPr lang="pt-PT"/>
          </a:p>
        </p:txBody>
      </p:sp>
      <p:sp>
        <p:nvSpPr>
          <p:cNvPr id="50" name="Text 41"/>
          <p:cNvSpPr txBox="1"/>
          <p:nvPr/>
        </p:nvSpPr>
        <p:spPr>
          <a:xfrm>
            <a:off x="8497389" y="4297680"/>
            <a:ext cx="1489166" cy="11887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Docker Compose</a:t>
            </a:r>
            <a:endParaRPr lang="en-US" sz="1500" dirty="0"/>
          </a:p>
          <a:p>
            <a:pPr marL="0" indent="0" algn="ctr">
              <a:buNone/>
            </a:pPr>
            <a:r>
              <a:rPr lang="en-US" sz="1200" dirty="0">
                <a:solidFill>
                  <a:srgbClr val="34D399"/>
                </a:solidFill>
                <a:latin typeface="Calibri" pitchFamily="34" charset="0"/>
                <a:ea typeface="Calibri" pitchFamily="34" charset="-122"/>
                <a:cs typeface="Calibri" pitchFamily="34" charset="-120"/>
              </a:rPr>
              <a:t>pytest · GitHub CI</a:t>
            </a:r>
            <a:endParaRPr lang="en-US" sz="1500" dirty="0"/>
          </a:p>
        </p:txBody>
      </p:sp>
      <p:sp>
        <p:nvSpPr>
          <p:cNvPr id="51" name="Shape 42"/>
          <p:cNvSpPr/>
          <p:nvPr/>
        </p:nvSpPr>
        <p:spPr>
          <a:xfrm>
            <a:off x="8451669" y="4526280"/>
            <a:ext cx="0" cy="731520"/>
          </a:xfrm>
          <a:prstGeom prst="line">
            <a:avLst/>
          </a:prstGeom>
          <a:noFill/>
          <a:ln w="12700">
            <a:solidFill>
              <a:srgbClr val="2B4A66"/>
            </a:solidFill>
            <a:prstDash val="solid"/>
          </a:ln>
        </p:spPr>
        <p:txBody>
          <a:bodyPr/>
          <a:lstStyle/>
          <a:p>
            <a:endParaRPr lang="pt-PT"/>
          </a:p>
        </p:txBody>
      </p:sp>
      <p:sp>
        <p:nvSpPr>
          <p:cNvPr id="52" name="Text 43"/>
          <p:cNvSpPr txBox="1"/>
          <p:nvPr/>
        </p:nvSpPr>
        <p:spPr>
          <a:xfrm>
            <a:off x="10077994" y="4297680"/>
            <a:ext cx="1489166" cy="1188720"/>
          </a:xfrm>
          <a:prstGeom prst="rect">
            <a:avLst/>
          </a:prstGeom>
          <a:noFill/>
          <a:ln/>
        </p:spPr>
        <p:txBody>
          <a:bodyPr wrap="square" lIns="0" tIns="0" rIns="0" bIns="0" rtlCol="0" anchor="ctr"/>
          <a:lstStyle/>
          <a:p>
            <a:pPr marL="0" indent="0" algn="ctr">
              <a:buNone/>
            </a:pPr>
            <a:r>
              <a:rPr lang="en-US" sz="1300" b="1" i="1" dirty="0">
                <a:solidFill>
                  <a:srgbClr val="94A3B8"/>
                </a:solidFill>
                <a:latin typeface="Calibri" pitchFamily="34" charset="0"/>
                <a:ea typeface="Calibri" pitchFamily="34" charset="-122"/>
                <a:cs typeface="Calibri" pitchFamily="34" charset="-120"/>
              </a:rPr>
              <a:t>e.g. Evidently</a:t>
            </a:r>
            <a:endParaRPr lang="en-US" sz="1300" dirty="0"/>
          </a:p>
        </p:txBody>
      </p:sp>
      <p:sp>
        <p:nvSpPr>
          <p:cNvPr id="53" name="Shape 44"/>
          <p:cNvSpPr/>
          <p:nvPr/>
        </p:nvSpPr>
        <p:spPr>
          <a:xfrm>
            <a:off x="10032274" y="4526280"/>
            <a:ext cx="0" cy="731520"/>
          </a:xfrm>
          <a:prstGeom prst="line">
            <a:avLst/>
          </a:prstGeom>
          <a:noFill/>
          <a:ln w="12700">
            <a:solidFill>
              <a:srgbClr val="2B4A66"/>
            </a:solidFill>
            <a:prstDash val="solid"/>
          </a:ln>
        </p:spPr>
        <p:txBody>
          <a:bodyPr/>
          <a:lstStyle/>
          <a:p>
            <a:endParaRPr lang="pt-PT"/>
          </a:p>
        </p:txBody>
      </p:sp>
      <p:sp>
        <p:nvSpPr>
          <p:cNvPr id="54" name="Text 45"/>
          <p:cNvSpPr txBox="1"/>
          <p:nvPr/>
        </p:nvSpPr>
        <p:spPr>
          <a:xfrm>
            <a:off x="548640" y="5715000"/>
            <a:ext cx="11064240" cy="36576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Steps 1 to 4 run with one command: docker compose run --rm trainer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1 · DATA</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Exploring the data</a:t>
            </a:r>
            <a:endParaRPr lang="en-US" sz="3000" dirty="0"/>
          </a:p>
        </p:txBody>
      </p:sp>
      <p:sp>
        <p:nvSpPr>
          <p:cNvPr id="29" name="Text 19"/>
          <p:cNvSpPr txBox="1"/>
          <p:nvPr/>
        </p:nvSpPr>
        <p:spPr>
          <a:xfrm>
            <a:off x="7616952" y="2407096"/>
            <a:ext cx="338328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Only 22% of customers default</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Understanding this is crucial to interpret metrics and design the model, as classes are imbalanced.</a:t>
            </a:r>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 We used a stratified split: train and test keep the same 22%</a:t>
            </a:r>
            <a:endParaRPr lang="en-US" sz="1600" dirty="0"/>
          </a:p>
        </p:txBody>
      </p:sp>
      <p:pic>
        <p:nvPicPr>
          <p:cNvPr id="31" name="Picture 30">
            <a:extLst>
              <a:ext uri="{FF2B5EF4-FFF2-40B4-BE49-F238E27FC236}">
                <a16:creationId xmlns:a16="http://schemas.microsoft.com/office/drawing/2014/main" id="{F2CE8976-A3DF-4EAE-D44D-0B439D83D686}"/>
              </a:ext>
            </a:extLst>
          </p:cNvPr>
          <p:cNvPicPr>
            <a:picLocks noChangeAspect="1"/>
          </p:cNvPicPr>
          <p:nvPr/>
        </p:nvPicPr>
        <p:blipFill>
          <a:blip r:embed="rId10"/>
          <a:stretch>
            <a:fillRect/>
          </a:stretch>
        </p:blipFill>
        <p:spPr>
          <a:xfrm>
            <a:off x="1030521" y="1877439"/>
            <a:ext cx="4572033" cy="44005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2 · TRAIN</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Training two models with one command</a:t>
            </a:r>
            <a:endParaRPr lang="en-US" sz="3000" dirty="0"/>
          </a:p>
        </p:txBody>
      </p:sp>
      <p:sp>
        <p:nvSpPr>
          <p:cNvPr id="29" name="Text 19"/>
          <p:cNvSpPr txBox="1"/>
          <p:nvPr/>
        </p:nvSpPr>
        <p:spPr>
          <a:xfrm>
            <a:off x="8229600" y="2240280"/>
            <a:ext cx="338328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Two models: Logistic Regression and Random Forest</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Cleaning, features and model are saved together in one pipeline, so the API prepares new data the same way</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Fixed random seed: same results every time</a:t>
            </a:r>
            <a:endParaRPr lang="en-US" sz="1600" dirty="0"/>
          </a:p>
        </p:txBody>
      </p:sp>
      <p:sp>
        <p:nvSpPr>
          <p:cNvPr id="35" name="Shape 16">
            <a:extLst>
              <a:ext uri="{FF2B5EF4-FFF2-40B4-BE49-F238E27FC236}">
                <a16:creationId xmlns:a16="http://schemas.microsoft.com/office/drawing/2014/main" id="{249ED16E-B06B-AE1E-ABCB-FD31549063C3}"/>
              </a:ext>
            </a:extLst>
          </p:cNvPr>
          <p:cNvSpPr/>
          <p:nvPr/>
        </p:nvSpPr>
        <p:spPr>
          <a:xfrm>
            <a:off x="548640" y="2148840"/>
            <a:ext cx="7315200" cy="3383280"/>
          </a:xfrm>
          <a:prstGeom prst="roundRect">
            <a:avLst>
              <a:gd name="adj" fmla="val 2703"/>
            </a:avLst>
          </a:prstGeom>
          <a:solidFill>
            <a:srgbClr val="0C0C0C"/>
          </a:solidFill>
          <a:ln w="12700">
            <a:solidFill>
              <a:srgbClr val="0C0C0C"/>
            </a:solidFill>
            <a:prstDash val="solid"/>
          </a:ln>
        </p:spPr>
        <p:txBody>
          <a:bodyPr/>
          <a:lstStyle/>
          <a:p>
            <a:endParaRPr lang="pt-PT"/>
          </a:p>
        </p:txBody>
      </p:sp>
      <p:sp>
        <p:nvSpPr>
          <p:cNvPr id="37" name="Text 17">
            <a:extLst>
              <a:ext uri="{FF2B5EF4-FFF2-40B4-BE49-F238E27FC236}">
                <a16:creationId xmlns:a16="http://schemas.microsoft.com/office/drawing/2014/main" id="{43E43A8B-23B0-B872-7AB5-923E0552B72D}"/>
              </a:ext>
            </a:extLst>
          </p:cNvPr>
          <p:cNvSpPr txBox="1"/>
          <p:nvPr/>
        </p:nvSpPr>
        <p:spPr>
          <a:xfrm>
            <a:off x="822960" y="2331720"/>
            <a:ext cx="6766560" cy="365760"/>
          </a:xfrm>
          <a:prstGeom prst="rect">
            <a:avLst/>
          </a:prstGeom>
          <a:noFill/>
          <a:ln/>
        </p:spPr>
        <p:txBody>
          <a:bodyPr wrap="square" lIns="0" tIns="0" rIns="0" bIns="0" rtlCol="0" anchor="ctr"/>
          <a:lstStyle/>
          <a:p>
            <a:pPr marL="0" indent="0">
              <a:buNone/>
            </a:pPr>
            <a:r>
              <a:rPr lang="en-US" sz="1500" b="1" dirty="0">
                <a:solidFill>
                  <a:srgbClr val="34D399"/>
                </a:solidFill>
                <a:latin typeface="Courier New" pitchFamily="34" charset="0"/>
                <a:ea typeface="Courier New" pitchFamily="34" charset="-122"/>
                <a:cs typeface="Courier New" pitchFamily="34" charset="-120"/>
              </a:rPr>
              <a:t>&gt; docker compose run --rm trainer</a:t>
            </a:r>
            <a:endParaRPr lang="en-US" sz="1500" dirty="0"/>
          </a:p>
        </p:txBody>
      </p:sp>
      <p:pic>
        <p:nvPicPr>
          <p:cNvPr id="39" name="Image 7" descr="train_output.png">
            <a:extLst>
              <a:ext uri="{FF2B5EF4-FFF2-40B4-BE49-F238E27FC236}">
                <a16:creationId xmlns:a16="http://schemas.microsoft.com/office/drawing/2014/main" id="{9F67AB92-D022-657C-DA27-EB98965AD336}"/>
              </a:ext>
            </a:extLst>
          </p:cNvPr>
          <p:cNvPicPr>
            <a:picLocks noChangeAspect="1"/>
          </p:cNvPicPr>
          <p:nvPr/>
        </p:nvPicPr>
        <p:blipFill>
          <a:blip r:embed="rId10"/>
          <a:stretch>
            <a:fillRect/>
          </a:stretch>
        </p:blipFill>
        <p:spPr>
          <a:xfrm>
            <a:off x="822960" y="2880360"/>
            <a:ext cx="6766560" cy="21243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3 · TRACK</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Tracking the experiments in MLflow</a:t>
            </a:r>
            <a:endParaRPr lang="en-US" sz="3000" dirty="0"/>
          </a:p>
        </p:txBody>
      </p:sp>
      <p:sp>
        <p:nvSpPr>
          <p:cNvPr id="29" name="Text 19"/>
          <p:cNvSpPr txBox="1"/>
          <p:nvPr/>
        </p:nvSpPr>
        <p:spPr>
          <a:xfrm>
            <a:off x="548640" y="3429000"/>
            <a:ext cx="54864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Compare view: both runs side by side</a:t>
            </a:r>
            <a:endParaRPr lang="en-US" sz="1200" dirty="0"/>
          </a:p>
        </p:txBody>
      </p:sp>
      <p:pic>
        <p:nvPicPr>
          <p:cNvPr id="30" name="Image 8" descr="mlflow_compare_crop.png"/>
          <p:cNvPicPr>
            <a:picLocks noChangeAspect="1"/>
          </p:cNvPicPr>
          <p:nvPr/>
        </p:nvPicPr>
        <p:blipFill>
          <a:blip r:embed="rId10"/>
          <a:stretch>
            <a:fillRect/>
          </a:stretch>
        </p:blipFill>
        <p:spPr>
          <a:xfrm>
            <a:off x="548640" y="3749039"/>
            <a:ext cx="5405814" cy="2606040"/>
          </a:xfrm>
          <a:prstGeom prst="rect">
            <a:avLst/>
          </a:prstGeom>
        </p:spPr>
      </p:pic>
      <p:sp>
        <p:nvSpPr>
          <p:cNvPr id="31" name="Text 20"/>
          <p:cNvSpPr txBox="1"/>
          <p:nvPr/>
        </p:nvSpPr>
        <p:spPr>
          <a:xfrm>
            <a:off x="7680960" y="2240280"/>
            <a:ext cx="393192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Every training run is saved automatically</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Each run keeps its parameters, metrics, charts and the model file</a:t>
            </a:r>
            <a:endParaRPr lang="en-US" sz="1600" dirty="0"/>
          </a:p>
          <a:p>
            <a:pPr marL="342900" indent="-342900">
              <a:spcAft>
                <a:spcPts val="1200"/>
              </a:spcAft>
              <a:buSzPct val="100000"/>
              <a:buChar char="•"/>
            </a:pPr>
            <a:r>
              <a:rPr lang="en-US" sz="1600" dirty="0">
                <a:solidFill>
                  <a:srgbClr val="1E293B"/>
                </a:solidFill>
                <a:latin typeface="Calibri" pitchFamily="34" charset="0"/>
                <a:ea typeface="Calibri" pitchFamily="34" charset="-122"/>
                <a:cs typeface="Calibri" pitchFamily="34" charset="-120"/>
              </a:rPr>
              <a:t>We can compare runs side by side instead of keeping notes</a:t>
            </a:r>
            <a:endParaRPr lang="en-US" sz="1600" dirty="0"/>
          </a:p>
        </p:txBody>
      </p:sp>
      <p:pic>
        <p:nvPicPr>
          <p:cNvPr id="32" name="Picture 31" descr="runs_c.png"/>
          <p:cNvPicPr>
            <a:picLocks noChangeAspect="1"/>
          </p:cNvPicPr>
          <p:nvPr/>
        </p:nvPicPr>
        <p:blipFill>
          <a:blip r:embed="rId11"/>
          <a:stretch>
            <a:fillRect/>
          </a:stretch>
        </p:blipFill>
        <p:spPr>
          <a:xfrm>
            <a:off x="548640" y="2148840"/>
            <a:ext cx="6766560" cy="1057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4 · REGISTER</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Choosing and registering the best model</a:t>
            </a:r>
            <a:endParaRPr lang="en-US" sz="3000" dirty="0"/>
          </a:p>
        </p:txBody>
      </p:sp>
      <p:pic>
        <p:nvPicPr>
          <p:cNvPr id="25" name="Image 7" descr="roc.png"/>
          <p:cNvPicPr>
            <a:picLocks noChangeAspect="1"/>
          </p:cNvPicPr>
          <p:nvPr/>
        </p:nvPicPr>
        <p:blipFill>
          <a:blip r:embed="rId10"/>
          <a:stretch>
            <a:fillRect/>
          </a:stretch>
        </p:blipFill>
        <p:spPr>
          <a:xfrm>
            <a:off x="365760" y="2011680"/>
            <a:ext cx="4480560" cy="3730752"/>
          </a:xfrm>
          <a:prstGeom prst="rect">
            <a:avLst/>
          </a:prstGeom>
        </p:spPr>
      </p:pic>
      <p:sp>
        <p:nvSpPr>
          <p:cNvPr id="30" name="Text 19"/>
          <p:cNvSpPr txBox="1"/>
          <p:nvPr/>
        </p:nvSpPr>
        <p:spPr>
          <a:xfrm>
            <a:off x="5120640" y="2103120"/>
            <a:ext cx="6492240" cy="1280160"/>
          </a:xfrm>
          <a:prstGeom prst="rect">
            <a:avLst/>
          </a:prstGeom>
          <a:noFill/>
          <a:ln/>
        </p:spPr>
        <p:txBody>
          <a:bodyPr wrap="square" lIns="0" tIns="0" rIns="0" bIns="0" rtlCol="0" anchor="t"/>
          <a:lstStyle/>
          <a:p>
            <a:pPr marL="0" indent="0">
              <a:buNone/>
            </a:pPr>
            <a:r>
              <a:rPr lang="en-US" sz="1500" b="1" dirty="0">
                <a:solidFill>
                  <a:srgbClr val="0F766E"/>
                </a:solidFill>
                <a:latin typeface="Calibri" pitchFamily="34" charset="0"/>
                <a:ea typeface="Calibri" pitchFamily="34" charset="-122"/>
                <a:cs typeface="Calibri" pitchFamily="34" charset="-120"/>
              </a:rPr>
              <a:t>ROC-AUC</a:t>
            </a:r>
            <a:endParaRPr lang="en-US" sz="1500" dirty="0"/>
          </a:p>
          <a:p>
            <a:pPr marL="0" indent="0">
              <a:buNone/>
            </a:pPr>
            <a:r>
              <a:rPr lang="en-US" sz="1500" b="1" dirty="0">
                <a:solidFill>
                  <a:srgbClr val="1E293B"/>
                </a:solidFill>
                <a:latin typeface="Calibri" pitchFamily="34" charset="0"/>
                <a:ea typeface="Calibri" pitchFamily="34" charset="-122"/>
                <a:cs typeface="Calibri" pitchFamily="34" charset="-120"/>
              </a:rPr>
              <a:t>Random Forest 0.775</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Logistic Regr. 0.745</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 </a:t>
            </a:r>
            <a:endParaRPr lang="en-US" sz="1500" dirty="0"/>
          </a:p>
          <a:p>
            <a:pPr marL="0" indent="0">
              <a:buNone/>
            </a:pPr>
            <a:r>
              <a:rPr lang="en-US" sz="1500" dirty="0">
                <a:solidFill>
                  <a:srgbClr val="1E293B"/>
                </a:solidFill>
                <a:latin typeface="Calibri" pitchFamily="34" charset="0"/>
                <a:ea typeface="Calibri" pitchFamily="34" charset="-122"/>
                <a:cs typeface="Calibri" pitchFamily="34" charset="-120"/>
              </a:rPr>
              <a:t>The script picks the highest ROC-AUC and registers it as @champion</a:t>
            </a:r>
            <a:endParaRPr lang="en-US" sz="1500" dirty="0"/>
          </a:p>
        </p:txBody>
      </p:sp>
      <p:pic>
        <p:nvPicPr>
          <p:cNvPr id="31" name="Picture 30" descr="reg_c.png"/>
          <p:cNvPicPr>
            <a:picLocks noChangeAspect="1"/>
          </p:cNvPicPr>
          <p:nvPr/>
        </p:nvPicPr>
        <p:blipFill>
          <a:blip r:embed="rId11"/>
          <a:stretch>
            <a:fillRect/>
          </a:stretch>
        </p:blipFill>
        <p:spPr>
          <a:xfrm>
            <a:off x="5120640" y="3429000"/>
            <a:ext cx="6492240" cy="467909"/>
          </a:xfrm>
          <a:prstGeom prst="rect">
            <a:avLst/>
          </a:prstGeom>
        </p:spPr>
      </p:pic>
      <p:sp>
        <p:nvSpPr>
          <p:cNvPr id="32" name="Rounded Rectangle 31"/>
          <p:cNvSpPr/>
          <p:nvPr/>
        </p:nvSpPr>
        <p:spPr>
          <a:xfrm>
            <a:off x="5120640" y="4343400"/>
            <a:ext cx="3154680" cy="100584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2200" b="1">
                <a:solidFill>
                  <a:srgbClr val="0F766E"/>
                </a:solidFill>
                <a:latin typeface="Cambria"/>
              </a:rPr>
              <a:t>Version 1</a:t>
            </a:r>
          </a:p>
          <a:p>
            <a:pPr algn="l"/>
            <a:r>
              <a:rPr sz="1300">
                <a:solidFill>
                  <a:srgbClr val="64748B"/>
                </a:solidFill>
                <a:latin typeface="Calibri"/>
              </a:rPr>
              <a:t>created automatically</a:t>
            </a:r>
          </a:p>
        </p:txBody>
      </p:sp>
      <p:sp>
        <p:nvSpPr>
          <p:cNvPr id="33" name="Rounded Rectangle 32"/>
          <p:cNvSpPr/>
          <p:nvPr/>
        </p:nvSpPr>
        <p:spPr>
          <a:xfrm>
            <a:off x="8458200" y="4343400"/>
            <a:ext cx="3154680" cy="100584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lIns="182880" rIns="182880" rtlCol="0" anchor="ctr"/>
          <a:lstStyle/>
          <a:p>
            <a:pPr algn="l"/>
            <a:r>
              <a:rPr sz="2200" b="1">
                <a:solidFill>
                  <a:srgbClr val="0B1F33"/>
                </a:solidFill>
                <a:latin typeface="Cambria"/>
              </a:rPr>
              <a:t>@champion</a:t>
            </a:r>
          </a:p>
          <a:p>
            <a:pPr algn="l"/>
            <a:r>
              <a:rPr sz="1300">
                <a:solidFill>
                  <a:srgbClr val="64748B"/>
                </a:solidFill>
                <a:latin typeface="Calibri"/>
              </a:rPr>
              <a:t>the model the API loads</a:t>
            </a:r>
          </a:p>
        </p:txBody>
      </p:sp>
      <p:sp>
        <p:nvSpPr>
          <p:cNvPr id="34" name="TextBox 33"/>
          <p:cNvSpPr txBox="1"/>
          <p:nvPr/>
        </p:nvSpPr>
        <p:spPr>
          <a:xfrm>
            <a:off x="5120640" y="5486400"/>
            <a:ext cx="6492240" cy="320040"/>
          </a:xfrm>
          <a:prstGeom prst="rect">
            <a:avLst/>
          </a:prstGeom>
          <a:noFill/>
        </p:spPr>
        <p:txBody>
          <a:bodyPr wrap="none">
            <a:spAutoFit/>
          </a:bodyPr>
          <a:lstStyle/>
          <a:p>
            <a:pPr algn="l"/>
            <a:r>
              <a:rPr sz="1200" i="1">
                <a:solidFill>
                  <a:srgbClr val="64748B"/>
                </a:solidFill>
                <a:latin typeface="Calibri"/>
              </a:rPr>
              <a:t>MLflow → Models → credit_default_model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F1F5F9"/>
          </a:solidFill>
          <a:ln w="12700">
            <a:solidFill>
              <a:srgbClr val="F1F5F9"/>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5 · SERVE</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Serving predictions through an API</a:t>
            </a:r>
            <a:endParaRPr lang="en-US" sz="3000" dirty="0"/>
          </a:p>
        </p:txBody>
      </p:sp>
      <p:sp>
        <p:nvSpPr>
          <p:cNvPr id="25" name="Text 16"/>
          <p:cNvSpPr txBox="1"/>
          <p:nvPr/>
        </p:nvSpPr>
        <p:spPr>
          <a:xfrm>
            <a:off x="548640" y="2103120"/>
            <a:ext cx="110642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Valid customer → prediction (real response from our API, Swagger)</a:t>
            </a:r>
            <a:endParaRPr lang="en-US" sz="1300" dirty="0"/>
          </a:p>
        </p:txBody>
      </p:sp>
      <p:pic>
        <p:nvPicPr>
          <p:cNvPr id="26" name="Image 7" descr="swagger_resp.png"/>
          <p:cNvPicPr>
            <a:picLocks noChangeAspect="1"/>
          </p:cNvPicPr>
          <p:nvPr/>
        </p:nvPicPr>
        <p:blipFill>
          <a:blip r:embed="rId10"/>
          <a:stretch>
            <a:fillRect/>
          </a:stretch>
        </p:blipFill>
        <p:spPr>
          <a:xfrm>
            <a:off x="548640" y="2468880"/>
            <a:ext cx="11064240" cy="1416223"/>
          </a:xfrm>
          <a:prstGeom prst="rect">
            <a:avLst/>
          </a:prstGeom>
        </p:spPr>
      </p:pic>
      <p:sp>
        <p:nvSpPr>
          <p:cNvPr id="27" name="Shape 17"/>
          <p:cNvSpPr/>
          <p:nvPr/>
        </p:nvSpPr>
        <p:spPr>
          <a:xfrm>
            <a:off x="548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28" name="Text 18"/>
          <p:cNvSpPr txBox="1"/>
          <p:nvPr/>
        </p:nvSpPr>
        <p:spPr>
          <a:xfrm>
            <a:off x="731520" y="4206240"/>
            <a:ext cx="1828800" cy="502920"/>
          </a:xfrm>
          <a:prstGeom prst="rect">
            <a:avLst/>
          </a:prstGeom>
          <a:noFill/>
          <a:ln/>
        </p:spPr>
        <p:txBody>
          <a:bodyPr wrap="square" lIns="0" tIns="0" rIns="0" bIns="0" rtlCol="0" anchor="ctr"/>
          <a:lstStyle/>
          <a:p>
            <a:pPr marL="0" indent="0">
              <a:buNone/>
            </a:pPr>
            <a:r>
              <a:rPr lang="en-US" sz="1800" b="1" dirty="0">
                <a:solidFill>
                  <a:srgbClr val="E5484D"/>
                </a:solidFill>
                <a:latin typeface="Cambria" pitchFamily="34" charset="0"/>
                <a:ea typeface="Cambria" pitchFamily="34" charset="-122"/>
                <a:cs typeface="Cambria" pitchFamily="34" charset="-120"/>
              </a:rPr>
              <a:t>high_default_risk</a:t>
            </a:r>
            <a:endParaRPr lang="en-US" sz="2000" dirty="0"/>
          </a:p>
        </p:txBody>
      </p:sp>
      <p:sp>
        <p:nvSpPr>
          <p:cNvPr id="29" name="Text 19"/>
          <p:cNvSpPr txBox="1"/>
          <p:nvPr/>
        </p:nvSpPr>
        <p:spPr>
          <a:xfrm>
            <a:off x="731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label</a:t>
            </a:r>
            <a:endParaRPr lang="en-US" sz="1100" dirty="0"/>
          </a:p>
        </p:txBody>
      </p:sp>
      <p:sp>
        <p:nvSpPr>
          <p:cNvPr id="30" name="Shape 20"/>
          <p:cNvSpPr/>
          <p:nvPr/>
        </p:nvSpPr>
        <p:spPr>
          <a:xfrm>
            <a:off x="2834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31" name="Text 21"/>
          <p:cNvSpPr txBox="1"/>
          <p:nvPr/>
        </p:nvSpPr>
        <p:spPr>
          <a:xfrm>
            <a:off x="3017520" y="4206240"/>
            <a:ext cx="1828800" cy="502920"/>
          </a:xfrm>
          <a:prstGeom prst="rect">
            <a:avLst/>
          </a:prstGeom>
          <a:noFill/>
          <a:ln/>
        </p:spPr>
        <p:txBody>
          <a:bodyPr wrap="square" lIns="0" tIns="0" rIns="0" bIns="0" rtlCol="0" anchor="ctr"/>
          <a:lstStyle/>
          <a:p>
            <a:pPr marL="0" indent="0">
              <a:buNone/>
            </a:pPr>
            <a:r>
              <a:rPr lang="en-US" sz="1800" b="1" dirty="0">
                <a:solidFill>
                  <a:srgbClr val="0B1F33"/>
                </a:solidFill>
                <a:latin typeface="Cambria" pitchFamily="34" charset="0"/>
                <a:ea typeface="Cambria" pitchFamily="34" charset="-122"/>
                <a:cs typeface="Cambria" pitchFamily="34" charset="-120"/>
              </a:rPr>
              <a:t>0.77</a:t>
            </a:r>
            <a:endParaRPr lang="en-US" sz="2000" dirty="0"/>
          </a:p>
        </p:txBody>
      </p:sp>
      <p:sp>
        <p:nvSpPr>
          <p:cNvPr id="32" name="Text 22"/>
          <p:cNvSpPr txBox="1"/>
          <p:nvPr/>
        </p:nvSpPr>
        <p:spPr>
          <a:xfrm>
            <a:off x="3017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default probability</a:t>
            </a:r>
            <a:endParaRPr lang="en-US" sz="1100" dirty="0"/>
          </a:p>
        </p:txBody>
      </p:sp>
      <p:sp>
        <p:nvSpPr>
          <p:cNvPr id="33" name="Shape 23"/>
          <p:cNvSpPr/>
          <p:nvPr/>
        </p:nvSpPr>
        <p:spPr>
          <a:xfrm>
            <a:off x="5120640" y="4114800"/>
            <a:ext cx="2103120" cy="1051560"/>
          </a:xfrm>
          <a:prstGeom prst="roundRect">
            <a:avLst>
              <a:gd name="adj" fmla="val 8889"/>
            </a:avLst>
          </a:prstGeom>
          <a:solidFill>
            <a:srgbClr val="F1F5F9"/>
          </a:solidFill>
          <a:ln w="12700">
            <a:solidFill>
              <a:srgbClr val="F1F5F9"/>
            </a:solidFill>
            <a:prstDash val="solid"/>
          </a:ln>
        </p:spPr>
        <p:txBody>
          <a:bodyPr/>
          <a:lstStyle/>
          <a:p>
            <a:endParaRPr lang="pt-PT" sz="1400"/>
          </a:p>
        </p:txBody>
      </p:sp>
      <p:sp>
        <p:nvSpPr>
          <p:cNvPr id="34" name="Text 24"/>
          <p:cNvSpPr txBox="1"/>
          <p:nvPr/>
        </p:nvSpPr>
        <p:spPr>
          <a:xfrm>
            <a:off x="5303520" y="4206240"/>
            <a:ext cx="1828800" cy="502920"/>
          </a:xfrm>
          <a:prstGeom prst="rect">
            <a:avLst/>
          </a:prstGeom>
          <a:noFill/>
          <a:ln/>
        </p:spPr>
        <p:txBody>
          <a:bodyPr wrap="square" lIns="0" tIns="0" rIns="0" bIns="0" rtlCol="0" anchor="ctr"/>
          <a:lstStyle/>
          <a:p>
            <a:pPr marL="0" indent="0">
              <a:buNone/>
            </a:pPr>
            <a:r>
              <a:rPr lang="en-US" sz="1800" b="1" dirty="0">
                <a:solidFill>
                  <a:srgbClr val="0F766E"/>
                </a:solidFill>
                <a:latin typeface="Cambria" pitchFamily="34" charset="0"/>
                <a:ea typeface="Cambria" pitchFamily="34" charset="-122"/>
                <a:cs typeface="Cambria" pitchFamily="34" charset="-120"/>
              </a:rPr>
              <a:t>version 1</a:t>
            </a:r>
            <a:endParaRPr lang="en-US" sz="2000" dirty="0"/>
          </a:p>
        </p:txBody>
      </p:sp>
      <p:sp>
        <p:nvSpPr>
          <p:cNvPr id="35" name="Text 25"/>
          <p:cNvSpPr txBox="1"/>
          <p:nvPr/>
        </p:nvSpPr>
        <p:spPr>
          <a:xfrm>
            <a:off x="5303520" y="4709160"/>
            <a:ext cx="18288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model that answered</a:t>
            </a:r>
            <a:endParaRPr lang="en-US" sz="1100" dirty="0"/>
          </a:p>
        </p:txBody>
      </p:sp>
      <p:sp>
        <p:nvSpPr>
          <p:cNvPr id="36" name="Text 26"/>
          <p:cNvSpPr txBox="1"/>
          <p:nvPr/>
        </p:nvSpPr>
        <p:spPr>
          <a:xfrm>
            <a:off x="548640" y="5394960"/>
            <a:ext cx="6583680" cy="960120"/>
          </a:xfrm>
          <a:prstGeom prst="rect">
            <a:avLst/>
          </a:prstGeom>
          <a:noFill/>
          <a:ln/>
        </p:spPr>
        <p:txBody>
          <a:bodyPr wrap="square" lIns="0" tIns="0" rIns="0" bIns="0" rtlCol="0" anchor="ctr"/>
          <a:lstStyle/>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The API loads the @champion model</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Wrong input is rejected before it reaches the model </a:t>
            </a:r>
            <a:endParaRPr lang="en-US" sz="1400" dirty="0"/>
          </a:p>
          <a:p>
            <a:pPr marL="342900" indent="-342900">
              <a:spcAft>
                <a:spcPts val="200"/>
              </a:spcAft>
              <a:buSzPct val="100000"/>
              <a:buChar char="•"/>
            </a:pPr>
            <a:r>
              <a:rPr lang="en-US" sz="1400" dirty="0">
                <a:solidFill>
                  <a:srgbClr val="1E293B"/>
                </a:solidFill>
                <a:latin typeface="Calibri" pitchFamily="34" charset="0"/>
                <a:ea typeface="Calibri" pitchFamily="34" charset="-122"/>
                <a:cs typeface="Calibri" pitchFamily="34" charset="-120"/>
              </a:rPr>
              <a:t>Every answer says a human must review the score</a:t>
            </a:r>
            <a:endParaRPr lang="en-US" sz="1400" dirty="0"/>
          </a:p>
        </p:txBody>
      </p:sp>
      <p:sp>
        <p:nvSpPr>
          <p:cNvPr id="37" name="TextBox 36"/>
          <p:cNvSpPr txBox="1"/>
          <p:nvPr/>
        </p:nvSpPr>
        <p:spPr>
          <a:xfrm>
            <a:off x="7498079" y="4069080"/>
            <a:ext cx="2505751" cy="292388"/>
          </a:xfrm>
          <a:prstGeom prst="rect">
            <a:avLst/>
          </a:prstGeom>
          <a:noFill/>
        </p:spPr>
        <p:txBody>
          <a:bodyPr wrap="none" lIns="0" rIns="0">
            <a:spAutoFit/>
          </a:bodyPr>
          <a:lstStyle/>
          <a:p>
            <a:pPr algn="l"/>
            <a:r>
              <a:rPr sz="1300" b="1" dirty="0">
                <a:solidFill>
                  <a:srgbClr val="E5484D"/>
                </a:solidFill>
                <a:latin typeface="Calibri"/>
              </a:rPr>
              <a:t>Wrong input (AGE = 150) → rejected</a:t>
            </a:r>
          </a:p>
        </p:txBody>
      </p:sp>
      <p:pic>
        <p:nvPicPr>
          <p:cNvPr id="38" name="Picture 37" descr="e422c.png"/>
          <p:cNvPicPr>
            <a:picLocks noChangeAspect="1"/>
          </p:cNvPicPr>
          <p:nvPr/>
        </p:nvPicPr>
        <p:blipFill>
          <a:blip r:embed="rId11"/>
          <a:stretch>
            <a:fillRect/>
          </a:stretch>
        </p:blipFill>
        <p:spPr>
          <a:xfrm>
            <a:off x="7498079" y="4434840"/>
            <a:ext cx="4114800" cy="1991269"/>
          </a:xfrm>
          <a:prstGeom prst="rect">
            <a:avLst/>
          </a:prstGeom>
          <a:ln w="9525">
            <a:solidFill>
              <a:srgbClr val="CBD5E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A7D8CF"/>
          </a:solidFill>
          <a:ln w="12700">
            <a:solidFill>
              <a:srgbClr val="A7D8CF"/>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0B1F33"/>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0F766E"/>
          </a:solidFill>
          <a:ln w="12700">
            <a:solidFill>
              <a:srgbClr val="0F766E"/>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FFFFFF"/>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STEP 6 · PACKAGE</a:t>
            </a:r>
            <a:endParaRPr lang="en-US" sz="1300" dirty="0"/>
          </a:p>
        </p:txBody>
      </p:sp>
      <p:sp>
        <p:nvSpPr>
          <p:cNvPr id="24" name="Text 15"/>
          <p:cNvSpPr txBox="1"/>
          <p:nvPr/>
        </p:nvSpPr>
        <p:spPr>
          <a:xfrm>
            <a:off x="548640" y="1325880"/>
            <a:ext cx="11064240" cy="64008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Running everything with Docker</a:t>
            </a:r>
            <a:endParaRPr lang="en-US" sz="3000" dirty="0"/>
          </a:p>
        </p:txBody>
      </p:sp>
      <p:sp>
        <p:nvSpPr>
          <p:cNvPr id="25" name="Text 16"/>
          <p:cNvSpPr txBox="1"/>
          <p:nvPr/>
        </p:nvSpPr>
        <p:spPr>
          <a:xfrm>
            <a:off x="548640" y="2103120"/>
            <a:ext cx="11064240" cy="3200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Docker Desktop: our containers running, with their live logs</a:t>
            </a:r>
            <a:endParaRPr lang="en-US" sz="1300" dirty="0"/>
          </a:p>
        </p:txBody>
      </p:sp>
      <p:pic>
        <p:nvPicPr>
          <p:cNvPr id="26" name="Image 7" descr="docker.png"/>
          <p:cNvPicPr>
            <a:picLocks noChangeAspect="1"/>
          </p:cNvPicPr>
          <p:nvPr/>
        </p:nvPicPr>
        <p:blipFill>
          <a:blip r:embed="rId10"/>
          <a:stretch>
            <a:fillRect/>
          </a:stretch>
        </p:blipFill>
        <p:spPr>
          <a:xfrm>
            <a:off x="548640" y="2468880"/>
            <a:ext cx="11064240" cy="2386405"/>
          </a:xfrm>
          <a:prstGeom prst="rect">
            <a:avLst/>
          </a:prstGeom>
        </p:spPr>
      </p:pic>
      <p:sp>
        <p:nvSpPr>
          <p:cNvPr id="27" name="Shape 17"/>
          <p:cNvSpPr/>
          <p:nvPr/>
        </p:nvSpPr>
        <p:spPr>
          <a:xfrm>
            <a:off x="54864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28" name="Text 18"/>
          <p:cNvSpPr txBox="1"/>
          <p:nvPr/>
        </p:nvSpPr>
        <p:spPr>
          <a:xfrm>
            <a:off x="777240" y="5120640"/>
            <a:ext cx="3017520" cy="457200"/>
          </a:xfrm>
          <a:prstGeom prst="rect">
            <a:avLst/>
          </a:prstGeom>
          <a:noFill/>
          <a:ln/>
        </p:spPr>
        <p:txBody>
          <a:bodyPr wrap="square" lIns="0" tIns="0" rIns="0" bIns="0" rtlCol="0" anchor="ctr"/>
          <a:lstStyle/>
          <a:p>
            <a:pPr marL="0" indent="0">
              <a:buNone/>
            </a:pPr>
            <a:r>
              <a:rPr lang="en-US" sz="2000" b="1" dirty="0">
                <a:solidFill>
                  <a:srgbClr val="0F766E"/>
                </a:solidFill>
                <a:latin typeface="Courier New" pitchFamily="34" charset="0"/>
                <a:ea typeface="Courier New" pitchFamily="34" charset="-122"/>
                <a:cs typeface="Courier New" pitchFamily="34" charset="-120"/>
              </a:rPr>
              <a:t>mlflow</a:t>
            </a:r>
            <a:endParaRPr lang="en-US" sz="2000" dirty="0"/>
          </a:p>
        </p:txBody>
      </p:sp>
      <p:sp>
        <p:nvSpPr>
          <p:cNvPr id="29" name="Text 19"/>
          <p:cNvSpPr txBox="1"/>
          <p:nvPr/>
        </p:nvSpPr>
        <p:spPr>
          <a:xfrm>
            <a:off x="77724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tracking + registry · port 5000</a:t>
            </a:r>
            <a:endParaRPr lang="en-US" sz="1300" dirty="0"/>
          </a:p>
        </p:txBody>
      </p:sp>
      <p:sp>
        <p:nvSpPr>
          <p:cNvPr id="30" name="Shape 20"/>
          <p:cNvSpPr/>
          <p:nvPr/>
        </p:nvSpPr>
        <p:spPr>
          <a:xfrm>
            <a:off x="429768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31" name="Text 21"/>
          <p:cNvSpPr txBox="1"/>
          <p:nvPr/>
        </p:nvSpPr>
        <p:spPr>
          <a:xfrm>
            <a:off x="4526280" y="5120640"/>
            <a:ext cx="3017520" cy="457200"/>
          </a:xfrm>
          <a:prstGeom prst="rect">
            <a:avLst/>
          </a:prstGeom>
          <a:noFill/>
          <a:ln/>
        </p:spPr>
        <p:txBody>
          <a:bodyPr wrap="square" lIns="0" tIns="0" rIns="0" bIns="0" rtlCol="0" anchor="ctr"/>
          <a:lstStyle/>
          <a:p>
            <a:pPr marL="0" indent="0">
              <a:buNone/>
            </a:pPr>
            <a:r>
              <a:rPr lang="en-US" sz="2000" b="1" dirty="0">
                <a:solidFill>
                  <a:srgbClr val="0F766E"/>
                </a:solidFill>
                <a:latin typeface="Courier New" pitchFamily="34" charset="0"/>
                <a:ea typeface="Courier New" pitchFamily="34" charset="-122"/>
                <a:cs typeface="Courier New" pitchFamily="34" charset="-120"/>
              </a:rPr>
              <a:t>api</a:t>
            </a:r>
            <a:endParaRPr lang="en-US" sz="2000" dirty="0"/>
          </a:p>
        </p:txBody>
      </p:sp>
      <p:sp>
        <p:nvSpPr>
          <p:cNvPr id="32" name="Text 22"/>
          <p:cNvSpPr txBox="1"/>
          <p:nvPr/>
        </p:nvSpPr>
        <p:spPr>
          <a:xfrm>
            <a:off x="452628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prediction service · port 8000</a:t>
            </a:r>
            <a:endParaRPr lang="en-US" sz="1300" dirty="0"/>
          </a:p>
        </p:txBody>
      </p:sp>
      <p:sp>
        <p:nvSpPr>
          <p:cNvPr id="33" name="Shape 23"/>
          <p:cNvSpPr/>
          <p:nvPr/>
        </p:nvSpPr>
        <p:spPr>
          <a:xfrm>
            <a:off x="8046720" y="5029200"/>
            <a:ext cx="3474720" cy="1051560"/>
          </a:xfrm>
          <a:prstGeom prst="roundRect">
            <a:avLst>
              <a:gd name="adj" fmla="val 10435"/>
            </a:avLst>
          </a:prstGeom>
          <a:solidFill>
            <a:srgbClr val="F1F5F9"/>
          </a:solidFill>
          <a:ln w="12700">
            <a:solidFill>
              <a:srgbClr val="F1F5F9"/>
            </a:solidFill>
            <a:prstDash val="solid"/>
          </a:ln>
        </p:spPr>
        <p:txBody>
          <a:bodyPr/>
          <a:lstStyle/>
          <a:p>
            <a:endParaRPr lang="pt-PT"/>
          </a:p>
        </p:txBody>
      </p:sp>
      <p:sp>
        <p:nvSpPr>
          <p:cNvPr id="34" name="Text 24"/>
          <p:cNvSpPr txBox="1"/>
          <p:nvPr/>
        </p:nvSpPr>
        <p:spPr>
          <a:xfrm>
            <a:off x="8275320" y="5120640"/>
            <a:ext cx="3017520" cy="457200"/>
          </a:xfrm>
          <a:prstGeom prst="rect">
            <a:avLst/>
          </a:prstGeom>
          <a:noFill/>
          <a:ln/>
        </p:spPr>
        <p:txBody>
          <a:bodyPr wrap="square" lIns="0" tIns="0" rIns="0" bIns="0" rtlCol="0" anchor="ctr"/>
          <a:lstStyle/>
          <a:p>
            <a:pPr marL="0" indent="0">
              <a:buNone/>
            </a:pPr>
            <a:r>
              <a:rPr lang="en-US" sz="2000" b="1" dirty="0">
                <a:solidFill>
                  <a:srgbClr val="64748B"/>
                </a:solidFill>
                <a:latin typeface="Courier New" pitchFamily="34" charset="0"/>
                <a:ea typeface="Courier New" pitchFamily="34" charset="-122"/>
                <a:cs typeface="Courier New" pitchFamily="34" charset="-120"/>
              </a:rPr>
              <a:t>trainer</a:t>
            </a:r>
            <a:endParaRPr lang="en-US" sz="2000" dirty="0"/>
          </a:p>
        </p:txBody>
      </p:sp>
      <p:sp>
        <p:nvSpPr>
          <p:cNvPr id="35" name="Text 25"/>
          <p:cNvSpPr txBox="1"/>
          <p:nvPr/>
        </p:nvSpPr>
        <p:spPr>
          <a:xfrm>
            <a:off x="8275320" y="5577840"/>
            <a:ext cx="3108960" cy="365760"/>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runs once when we train, then removed</a:t>
            </a:r>
            <a:endParaRPr lang="en-US" sz="1300" dirty="0"/>
          </a:p>
        </p:txBody>
      </p:sp>
      <p:sp>
        <p:nvSpPr>
          <p:cNvPr id="36" name="Text 26"/>
          <p:cNvSpPr txBox="1"/>
          <p:nvPr/>
        </p:nvSpPr>
        <p:spPr>
          <a:xfrm>
            <a:off x="548640" y="6263640"/>
            <a:ext cx="11064240" cy="3200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 teammate needs only Git, Docker and the CSV. Automated tests run on every push to GitHub.</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548640"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3" name="Image 0" descr="preencoded.png"/>
          <p:cNvPicPr>
            <a:picLocks noChangeAspect="1"/>
          </p:cNvPicPr>
          <p:nvPr/>
        </p:nvPicPr>
        <p:blipFill>
          <a:blip r:embed="rId3"/>
          <a:stretch>
            <a:fillRect/>
          </a:stretch>
        </p:blipFill>
        <p:spPr>
          <a:xfrm>
            <a:off x="676656" y="411480"/>
            <a:ext cx="201168" cy="201168"/>
          </a:xfrm>
          <a:prstGeom prst="rect">
            <a:avLst/>
          </a:prstGeom>
        </p:spPr>
      </p:pic>
      <p:sp>
        <p:nvSpPr>
          <p:cNvPr id="4" name="Text 1"/>
          <p:cNvSpPr txBox="1"/>
          <p:nvPr/>
        </p:nvSpPr>
        <p:spPr>
          <a:xfrm>
            <a:off x="932688"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Data</a:t>
            </a:r>
            <a:endParaRPr lang="en-US" sz="1200" dirty="0"/>
          </a:p>
        </p:txBody>
      </p:sp>
      <p:sp>
        <p:nvSpPr>
          <p:cNvPr id="5" name="Shape 2"/>
          <p:cNvSpPr/>
          <p:nvPr/>
        </p:nvSpPr>
        <p:spPr>
          <a:xfrm>
            <a:off x="2139696"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6" name="Image 1" descr="preencoded.png"/>
          <p:cNvPicPr>
            <a:picLocks noChangeAspect="1"/>
          </p:cNvPicPr>
          <p:nvPr/>
        </p:nvPicPr>
        <p:blipFill>
          <a:blip r:embed="rId4"/>
          <a:stretch>
            <a:fillRect/>
          </a:stretch>
        </p:blipFill>
        <p:spPr>
          <a:xfrm>
            <a:off x="2267712" y="411480"/>
            <a:ext cx="201168" cy="201168"/>
          </a:xfrm>
          <a:prstGeom prst="rect">
            <a:avLst/>
          </a:prstGeom>
        </p:spPr>
      </p:pic>
      <p:sp>
        <p:nvSpPr>
          <p:cNvPr id="7" name="Text 3"/>
          <p:cNvSpPr txBox="1"/>
          <p:nvPr/>
        </p:nvSpPr>
        <p:spPr>
          <a:xfrm>
            <a:off x="2523744"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Train</a:t>
            </a:r>
            <a:endParaRPr lang="en-US" sz="1200" dirty="0"/>
          </a:p>
        </p:txBody>
      </p:sp>
      <p:sp>
        <p:nvSpPr>
          <p:cNvPr id="8" name="Shape 4"/>
          <p:cNvSpPr/>
          <p:nvPr/>
        </p:nvSpPr>
        <p:spPr>
          <a:xfrm>
            <a:off x="3730752"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9" name="Image 2" descr="preencoded.png"/>
          <p:cNvPicPr>
            <a:picLocks noChangeAspect="1"/>
          </p:cNvPicPr>
          <p:nvPr/>
        </p:nvPicPr>
        <p:blipFill>
          <a:blip r:embed="rId5"/>
          <a:stretch>
            <a:fillRect/>
          </a:stretch>
        </p:blipFill>
        <p:spPr>
          <a:xfrm>
            <a:off x="3858768" y="411480"/>
            <a:ext cx="201168" cy="201168"/>
          </a:xfrm>
          <a:prstGeom prst="rect">
            <a:avLst/>
          </a:prstGeom>
        </p:spPr>
      </p:pic>
      <p:sp>
        <p:nvSpPr>
          <p:cNvPr id="10" name="Text 5"/>
          <p:cNvSpPr txBox="1"/>
          <p:nvPr/>
        </p:nvSpPr>
        <p:spPr>
          <a:xfrm>
            <a:off x="4114800"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Track</a:t>
            </a:r>
            <a:endParaRPr lang="en-US" sz="1200" dirty="0"/>
          </a:p>
        </p:txBody>
      </p:sp>
      <p:sp>
        <p:nvSpPr>
          <p:cNvPr id="11" name="Shape 6"/>
          <p:cNvSpPr/>
          <p:nvPr/>
        </p:nvSpPr>
        <p:spPr>
          <a:xfrm>
            <a:off x="5321808"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2" name="Image 3" descr="preencoded.png"/>
          <p:cNvPicPr>
            <a:picLocks noChangeAspect="1"/>
          </p:cNvPicPr>
          <p:nvPr/>
        </p:nvPicPr>
        <p:blipFill>
          <a:blip r:embed="rId6"/>
          <a:stretch>
            <a:fillRect/>
          </a:stretch>
        </p:blipFill>
        <p:spPr>
          <a:xfrm>
            <a:off x="5449824" y="411480"/>
            <a:ext cx="201168" cy="201168"/>
          </a:xfrm>
          <a:prstGeom prst="rect">
            <a:avLst/>
          </a:prstGeom>
        </p:spPr>
      </p:pic>
      <p:sp>
        <p:nvSpPr>
          <p:cNvPr id="13" name="Text 7"/>
          <p:cNvSpPr txBox="1"/>
          <p:nvPr/>
        </p:nvSpPr>
        <p:spPr>
          <a:xfrm>
            <a:off x="5705856"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Register</a:t>
            </a:r>
            <a:endParaRPr lang="en-US" sz="1200" dirty="0"/>
          </a:p>
        </p:txBody>
      </p:sp>
      <p:sp>
        <p:nvSpPr>
          <p:cNvPr id="14" name="Shape 8"/>
          <p:cNvSpPr/>
          <p:nvPr/>
        </p:nvSpPr>
        <p:spPr>
          <a:xfrm>
            <a:off x="6912864"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5" name="Image 4" descr="preencoded.png"/>
          <p:cNvPicPr>
            <a:picLocks noChangeAspect="1"/>
          </p:cNvPicPr>
          <p:nvPr/>
        </p:nvPicPr>
        <p:blipFill>
          <a:blip r:embed="rId7"/>
          <a:stretch>
            <a:fillRect/>
          </a:stretch>
        </p:blipFill>
        <p:spPr>
          <a:xfrm>
            <a:off x="7040880" y="411480"/>
            <a:ext cx="201168" cy="201168"/>
          </a:xfrm>
          <a:prstGeom prst="rect">
            <a:avLst/>
          </a:prstGeom>
        </p:spPr>
      </p:pic>
      <p:sp>
        <p:nvSpPr>
          <p:cNvPr id="16" name="Text 9"/>
          <p:cNvSpPr txBox="1"/>
          <p:nvPr/>
        </p:nvSpPr>
        <p:spPr>
          <a:xfrm>
            <a:off x="7296912"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 Serve</a:t>
            </a:r>
            <a:endParaRPr lang="en-US" sz="1200" dirty="0"/>
          </a:p>
        </p:txBody>
      </p:sp>
      <p:sp>
        <p:nvSpPr>
          <p:cNvPr id="17" name="Shape 10"/>
          <p:cNvSpPr/>
          <p:nvPr/>
        </p:nvSpPr>
        <p:spPr>
          <a:xfrm>
            <a:off x="8503920" y="320040"/>
            <a:ext cx="1481328" cy="384048"/>
          </a:xfrm>
          <a:prstGeom prst="roundRect">
            <a:avLst>
              <a:gd name="adj" fmla="val 50000"/>
            </a:avLst>
          </a:prstGeom>
          <a:solidFill>
            <a:srgbClr val="1F4B5E"/>
          </a:solidFill>
          <a:ln w="12700">
            <a:solidFill>
              <a:srgbClr val="1F4B5E"/>
            </a:solidFill>
            <a:prstDash val="solid"/>
          </a:ln>
        </p:spPr>
        <p:txBody>
          <a:bodyPr/>
          <a:lstStyle/>
          <a:p>
            <a:endParaRPr lang="pt-PT"/>
          </a:p>
        </p:txBody>
      </p:sp>
      <p:pic>
        <p:nvPicPr>
          <p:cNvPr id="18" name="Image 5" descr="preencoded.png"/>
          <p:cNvPicPr>
            <a:picLocks noChangeAspect="1"/>
          </p:cNvPicPr>
          <p:nvPr/>
        </p:nvPicPr>
        <p:blipFill>
          <a:blip r:embed="rId8"/>
          <a:stretch>
            <a:fillRect/>
          </a:stretch>
        </p:blipFill>
        <p:spPr>
          <a:xfrm>
            <a:off x="8631936" y="411480"/>
            <a:ext cx="201168" cy="201168"/>
          </a:xfrm>
          <a:prstGeom prst="rect">
            <a:avLst/>
          </a:prstGeom>
        </p:spPr>
      </p:pic>
      <p:sp>
        <p:nvSpPr>
          <p:cNvPr id="19" name="Text 11"/>
          <p:cNvSpPr txBox="1"/>
          <p:nvPr/>
        </p:nvSpPr>
        <p:spPr>
          <a:xfrm>
            <a:off x="8887968" y="320040"/>
            <a:ext cx="1042416"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Package</a:t>
            </a:r>
            <a:endParaRPr lang="en-US" sz="1200" dirty="0"/>
          </a:p>
        </p:txBody>
      </p:sp>
      <p:sp>
        <p:nvSpPr>
          <p:cNvPr id="20" name="Shape 12"/>
          <p:cNvSpPr/>
          <p:nvPr/>
        </p:nvSpPr>
        <p:spPr>
          <a:xfrm>
            <a:off x="10094976" y="320040"/>
            <a:ext cx="1481328" cy="384048"/>
          </a:xfrm>
          <a:prstGeom prst="roundRect">
            <a:avLst>
              <a:gd name="adj" fmla="val 50000"/>
            </a:avLst>
          </a:prstGeom>
          <a:solidFill>
            <a:srgbClr val="0B1F33"/>
          </a:solidFill>
          <a:ln w="12700">
            <a:solidFill>
              <a:srgbClr val="64748B"/>
            </a:solidFill>
            <a:prstDash val="dash"/>
          </a:ln>
        </p:spPr>
        <p:txBody>
          <a:bodyPr/>
          <a:lstStyle/>
          <a:p>
            <a:endParaRPr lang="pt-PT"/>
          </a:p>
        </p:txBody>
      </p:sp>
      <p:pic>
        <p:nvPicPr>
          <p:cNvPr id="21" name="Image 6" descr="preencoded.png"/>
          <p:cNvPicPr>
            <a:picLocks noChangeAspect="1"/>
          </p:cNvPicPr>
          <p:nvPr/>
        </p:nvPicPr>
        <p:blipFill>
          <a:blip r:embed="rId9"/>
          <a:stretch>
            <a:fillRect/>
          </a:stretch>
        </p:blipFill>
        <p:spPr>
          <a:xfrm>
            <a:off x="10222992" y="411480"/>
            <a:ext cx="201168" cy="201168"/>
          </a:xfrm>
          <a:prstGeom prst="rect">
            <a:avLst/>
          </a:prstGeom>
        </p:spPr>
      </p:pic>
      <p:sp>
        <p:nvSpPr>
          <p:cNvPr id="22" name="Text 13"/>
          <p:cNvSpPr txBox="1"/>
          <p:nvPr/>
        </p:nvSpPr>
        <p:spPr>
          <a:xfrm>
            <a:off x="10479024" y="320040"/>
            <a:ext cx="1042416" cy="38404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Monitor (next)</a:t>
            </a:r>
            <a:endParaRPr lang="en-US" sz="1200" dirty="0"/>
          </a:p>
        </p:txBody>
      </p:sp>
      <p:sp>
        <p:nvSpPr>
          <p:cNvPr id="23" name="Text 14"/>
          <p:cNvSpPr txBox="1"/>
          <p:nvPr/>
        </p:nvSpPr>
        <p:spPr>
          <a:xfrm>
            <a:off x="548640" y="1005840"/>
            <a:ext cx="9144000" cy="320040"/>
          </a:xfrm>
          <a:prstGeom prst="rect">
            <a:avLst/>
          </a:prstGeom>
          <a:noFill/>
          <a:ln/>
        </p:spPr>
        <p:txBody>
          <a:bodyPr wrap="square" lIns="0" tIns="0" rIns="0" bIns="0" rtlCol="0" anchor="ctr"/>
          <a:lstStyle/>
          <a:p>
            <a:pPr marL="0" indent="0">
              <a:buNone/>
            </a:pPr>
            <a:r>
              <a:rPr lang="en-US" sz="1300" b="1" kern="0" spc="300" dirty="0">
                <a:solidFill>
                  <a:srgbClr val="34D399"/>
                </a:solidFill>
                <a:latin typeface="Calibri" pitchFamily="34" charset="0"/>
                <a:ea typeface="Calibri" pitchFamily="34" charset="-122"/>
                <a:cs typeface="Calibri" pitchFamily="34" charset="-120"/>
              </a:rPr>
              <a:t>CONCLUSION</a:t>
            </a:r>
            <a:endParaRPr lang="en-US" sz="1300" dirty="0"/>
          </a:p>
        </p:txBody>
      </p:sp>
      <p:sp>
        <p:nvSpPr>
          <p:cNvPr id="24" name="Text 15"/>
          <p:cNvSpPr txBox="1"/>
          <p:nvPr/>
        </p:nvSpPr>
        <p:spPr>
          <a:xfrm>
            <a:off x="548640" y="132588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we built and what comes next</a:t>
            </a:r>
            <a:endParaRPr lang="en-US" sz="3000" dirty="0"/>
          </a:p>
        </p:txBody>
      </p:sp>
      <p:sp>
        <p:nvSpPr>
          <p:cNvPr id="25" name="Shape 16"/>
          <p:cNvSpPr/>
          <p:nvPr/>
        </p:nvSpPr>
        <p:spPr>
          <a:xfrm>
            <a:off x="54864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26" name="Text 17"/>
          <p:cNvSpPr txBox="1"/>
          <p:nvPr/>
        </p:nvSpPr>
        <p:spPr>
          <a:xfrm>
            <a:off x="822960" y="2468880"/>
            <a:ext cx="3017520" cy="411480"/>
          </a:xfrm>
          <a:prstGeom prst="rect">
            <a:avLst/>
          </a:prstGeom>
          <a:noFill/>
          <a:ln/>
        </p:spPr>
        <p:txBody>
          <a:bodyPr wrap="square" lIns="0" tIns="0" rIns="0" bIns="0" rtlCol="0" anchor="ctr"/>
          <a:lstStyle/>
          <a:p>
            <a:pPr marL="0" indent="0">
              <a:buNone/>
            </a:pPr>
            <a:r>
              <a:rPr lang="en-US" sz="2000" b="1" dirty="0">
                <a:solidFill>
                  <a:srgbClr val="34D399"/>
                </a:solidFill>
                <a:latin typeface="Cambria" pitchFamily="34" charset="0"/>
                <a:ea typeface="Cambria" pitchFamily="34" charset="-122"/>
                <a:cs typeface="Cambria" pitchFamily="34" charset="-120"/>
              </a:rPr>
              <a:t>What we built</a:t>
            </a:r>
            <a:endParaRPr lang="en-US" sz="2000" dirty="0"/>
          </a:p>
        </p:txBody>
      </p:sp>
      <p:sp>
        <p:nvSpPr>
          <p:cNvPr id="27" name="Text 18"/>
          <p:cNvSpPr txBox="1"/>
          <p:nvPr/>
        </p:nvSpPr>
        <p:spPr>
          <a:xfrm>
            <a:off x="82296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Experiments tracked in MLflow</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Best model registered automatically</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Prediction API</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Runs anywhere with Docker</a:t>
            </a:r>
            <a:endParaRPr lang="en-US" sz="1500" dirty="0"/>
          </a:p>
        </p:txBody>
      </p:sp>
      <p:sp>
        <p:nvSpPr>
          <p:cNvPr id="28" name="Shape 19"/>
          <p:cNvSpPr/>
          <p:nvPr/>
        </p:nvSpPr>
        <p:spPr>
          <a:xfrm>
            <a:off x="429768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29" name="Text 20"/>
          <p:cNvSpPr txBox="1"/>
          <p:nvPr/>
        </p:nvSpPr>
        <p:spPr>
          <a:xfrm>
            <a:off x="4572000" y="2468880"/>
            <a:ext cx="3017520" cy="411480"/>
          </a:xfrm>
          <a:prstGeom prst="rect">
            <a:avLst/>
          </a:prstGeom>
          <a:noFill/>
          <a:ln/>
        </p:spPr>
        <p:txBody>
          <a:bodyPr wrap="square" lIns="0" tIns="0" rIns="0" bIns="0" rtlCol="0" anchor="ctr"/>
          <a:lstStyle/>
          <a:p>
            <a:pPr marL="0" indent="0">
              <a:buNone/>
            </a:pPr>
            <a:r>
              <a:rPr lang="en-US" sz="2000" b="1" dirty="0">
                <a:solidFill>
                  <a:srgbClr val="93C5FD"/>
                </a:solidFill>
                <a:latin typeface="Cambria" pitchFamily="34" charset="0"/>
                <a:ea typeface="Cambria" pitchFamily="34" charset="-122"/>
                <a:cs typeface="Cambria" pitchFamily="34" charset="-120"/>
              </a:rPr>
              <a:t>Next steps</a:t>
            </a:r>
            <a:endParaRPr lang="en-US" sz="2000" dirty="0"/>
          </a:p>
        </p:txBody>
      </p:sp>
      <p:sp>
        <p:nvSpPr>
          <p:cNvPr id="30" name="Text 21"/>
          <p:cNvSpPr txBox="1"/>
          <p:nvPr/>
        </p:nvSpPr>
        <p:spPr>
          <a:xfrm>
            <a:off x="457200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Monitor the model over time</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Version the data</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Set the threshold with the business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Cross-validation</a:t>
            </a:r>
            <a:endParaRPr lang="en-US" sz="1500" dirty="0"/>
          </a:p>
        </p:txBody>
      </p:sp>
      <p:sp>
        <p:nvSpPr>
          <p:cNvPr id="31" name="Shape 22"/>
          <p:cNvSpPr/>
          <p:nvPr/>
        </p:nvSpPr>
        <p:spPr>
          <a:xfrm>
            <a:off x="8046720" y="2286000"/>
            <a:ext cx="3474720" cy="3291840"/>
          </a:xfrm>
          <a:prstGeom prst="roundRect">
            <a:avLst>
              <a:gd name="adj" fmla="val 3333"/>
            </a:avLst>
          </a:prstGeom>
          <a:solidFill>
            <a:srgbClr val="14304D"/>
          </a:solidFill>
          <a:ln w="12700">
            <a:solidFill>
              <a:srgbClr val="14304D"/>
            </a:solidFill>
            <a:prstDash val="solid"/>
          </a:ln>
        </p:spPr>
        <p:txBody>
          <a:bodyPr/>
          <a:lstStyle/>
          <a:p>
            <a:endParaRPr lang="pt-PT"/>
          </a:p>
        </p:txBody>
      </p:sp>
      <p:sp>
        <p:nvSpPr>
          <p:cNvPr id="32" name="Text 23"/>
          <p:cNvSpPr txBox="1"/>
          <p:nvPr/>
        </p:nvSpPr>
        <p:spPr>
          <a:xfrm>
            <a:off x="8321040" y="2468880"/>
            <a:ext cx="3017520" cy="411480"/>
          </a:xfrm>
          <a:prstGeom prst="rect">
            <a:avLst/>
          </a:prstGeom>
          <a:noFill/>
          <a:ln/>
        </p:spPr>
        <p:txBody>
          <a:bodyPr wrap="square" lIns="0" tIns="0" rIns="0" bIns="0" rtlCol="0" anchor="ctr"/>
          <a:lstStyle/>
          <a:p>
            <a:pPr marL="0" indent="0">
              <a:buNone/>
            </a:pPr>
            <a:r>
              <a:rPr lang="en-US" sz="2000" b="1" dirty="0">
                <a:solidFill>
                  <a:srgbClr val="FBBF24"/>
                </a:solidFill>
                <a:latin typeface="Cambria" pitchFamily="34" charset="0"/>
                <a:ea typeface="Cambria" pitchFamily="34" charset="-122"/>
                <a:cs typeface="Cambria" pitchFamily="34" charset="-120"/>
              </a:rPr>
              <a:t>Responsible use</a:t>
            </a:r>
            <a:endParaRPr lang="en-US" sz="2000" dirty="0"/>
          </a:p>
        </p:txBody>
      </p:sp>
      <p:sp>
        <p:nvSpPr>
          <p:cNvPr id="33" name="Text 24"/>
          <p:cNvSpPr txBox="1"/>
          <p:nvPr/>
        </p:nvSpPr>
        <p:spPr>
          <a:xfrm>
            <a:off x="8321040" y="3017520"/>
            <a:ext cx="301752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Check fairness (sex, age, marital status)</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Keep a human in the loop</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Protect personal data (GDPR)</a:t>
            </a:r>
            <a:endParaRPr lang="en-US" sz="1500" dirty="0"/>
          </a:p>
          <a:p>
            <a:pPr marL="342900" indent="-342900">
              <a:spcAft>
                <a:spcPts val="800"/>
              </a:spcAft>
              <a:buSzPct val="100000"/>
              <a:buChar char="•"/>
            </a:pPr>
            <a:r>
              <a:rPr lang="en-US" sz="1500" dirty="0">
                <a:solidFill>
                  <a:srgbClr val="E2E8F0"/>
                </a:solidFill>
                <a:latin typeface="Calibri" pitchFamily="34" charset="0"/>
                <a:ea typeface="Calibri" pitchFamily="34" charset="-122"/>
                <a:cs typeface="Calibri" pitchFamily="34" charset="-120"/>
              </a:rPr>
              <a:t>Credit scoring is high-risk under the EU AI Act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300" b="1" kern="0" spc="300" dirty="0">
                <a:solidFill>
                  <a:srgbClr val="0F766E"/>
                </a:solidFill>
                <a:latin typeface="Calibri" pitchFamily="34" charset="0"/>
                <a:ea typeface="Calibri" pitchFamily="34" charset="-122"/>
                <a:cs typeface="Calibri" pitchFamily="34" charset="-120"/>
              </a:rPr>
              <a:t>BACKUP · FOR QUESTIONS</a:t>
            </a:r>
            <a:endParaRPr lang="en-US" sz="1300" dirty="0"/>
          </a:p>
        </p:txBody>
      </p:sp>
      <p:sp>
        <p:nvSpPr>
          <p:cNvPr id="3" name="Text 1"/>
          <p:cNvSpPr txBox="1"/>
          <p:nvPr/>
        </p:nvSpPr>
        <p:spPr>
          <a:xfrm>
            <a:off x="548640" y="777240"/>
            <a:ext cx="10972800" cy="731520"/>
          </a:xfrm>
          <a:prstGeom prst="rect">
            <a:avLst/>
          </a:prstGeom>
          <a:noFill/>
          <a:ln/>
        </p:spPr>
        <p:txBody>
          <a:bodyPr wrap="square" lIns="0" tIns="0" rIns="0" bIns="0" rtlCol="0" anchor="ctr"/>
          <a:lstStyle/>
          <a:p>
            <a:pPr marL="0" indent="0">
              <a:buNone/>
            </a:pPr>
            <a:r>
              <a:rPr lang="en-US" sz="3000" b="1" dirty="0">
                <a:solidFill>
                  <a:srgbClr val="0B1F33"/>
                </a:solidFill>
                <a:latin typeface="Cambria" pitchFamily="34" charset="0"/>
                <a:ea typeface="Cambria" pitchFamily="34" charset="-122"/>
                <a:cs typeface="Cambria" pitchFamily="34" charset="-120"/>
              </a:rPr>
              <a:t>Results in detail and limitations</a:t>
            </a:r>
            <a:endParaRPr lang="en-US" sz="3000" dirty="0"/>
          </a:p>
        </p:txBody>
      </p:sp>
      <p:pic>
        <p:nvPicPr>
          <p:cNvPr id="4" name="Image 0" descr="cm_rf.png"/>
          <p:cNvPicPr>
            <a:picLocks noChangeAspect="1"/>
          </p:cNvPicPr>
          <p:nvPr/>
        </p:nvPicPr>
        <p:blipFill>
          <a:blip r:embed="rId3"/>
          <a:stretch>
            <a:fillRect/>
          </a:stretch>
        </p:blipFill>
        <p:spPr>
          <a:xfrm>
            <a:off x="365760" y="1645920"/>
            <a:ext cx="4572000" cy="381304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212080" y="1783080"/>
          <a:ext cx="3017520" cy="1975104"/>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Log. Regr.</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0.745</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0.775</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0.561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0.580</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0.470</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0.504</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0.512</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0.539</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0.763</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0.781</a:t>
                      </a:r>
                      <a:endParaRPr lang="en-US" sz="12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txBox="1"/>
          <p:nvPr/>
        </p:nvSpPr>
        <p:spPr>
          <a:xfrm>
            <a:off x="8595360" y="1737360"/>
            <a:ext cx="3108960" cy="365760"/>
          </a:xfrm>
          <a:prstGeom prst="rect">
            <a:avLst/>
          </a:prstGeom>
          <a:noFill/>
          <a:ln/>
        </p:spPr>
        <p:txBody>
          <a:bodyPr wrap="square" lIns="0" tIns="0" rIns="0" bIns="0" rtlCol="0" anchor="ctr"/>
          <a:lstStyle/>
          <a:p>
            <a:pPr marL="0" indent="0">
              <a:buNone/>
            </a:pPr>
            <a:r>
              <a:rPr lang="en-US" sz="1800" b="1" dirty="0">
                <a:solidFill>
                  <a:srgbClr val="0B1F33"/>
                </a:solidFill>
                <a:latin typeface="Cambria" pitchFamily="34" charset="0"/>
                <a:ea typeface="Cambria" pitchFamily="34" charset="-122"/>
                <a:cs typeface="Cambria" pitchFamily="34" charset="-120"/>
              </a:rPr>
              <a:t>Limitations</a:t>
            </a:r>
            <a:endParaRPr lang="en-US" sz="1800" dirty="0"/>
          </a:p>
        </p:txBody>
      </p:sp>
      <p:sp>
        <p:nvSpPr>
          <p:cNvPr id="7" name="Text 3"/>
          <p:cNvSpPr txBox="1"/>
          <p:nvPr/>
        </p:nvSpPr>
        <p:spPr>
          <a:xfrm>
            <a:off x="8595360" y="2194560"/>
            <a:ext cx="3108960" cy="3657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Data from Taiwan, 2005</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One train/test split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tuning; threshold 0.5</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fairness metrics yet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monitoring or data versioning</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MLflow has no login (laptop only)</a:t>
            </a:r>
            <a:endParaRPr lang="en-US" sz="1300" dirty="0"/>
          </a:p>
        </p:txBody>
      </p:sp>
      <p:sp>
        <p:nvSpPr>
          <p:cNvPr id="8" name="Text 4"/>
          <p:cNvSpPr txBox="1"/>
          <p:nvPr/>
        </p:nvSpPr>
        <p:spPr>
          <a:xfrm>
            <a:off x="548640" y="5577840"/>
            <a:ext cx="768096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Random Forest on 6,000 test customers: 770 of 1,327 defaulters caught, 759 false alarms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1737</Words>
  <Application>Microsoft Office PowerPoint</Application>
  <PresentationFormat>Widescreen</PresentationFormat>
  <Paragraphs>214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Default Risk Prediction with MLOps</dc:title>
  <dc:subject>PptxGenJS Presentation</dc:subject>
  <dc:creator>PptxGenJS</dc:creator>
  <cp:lastModifiedBy>Olívia Rua</cp:lastModifiedBy>
  <cp:revision>5</cp:revision>
  <dcterms:created xsi:type="dcterms:W3CDTF">2026-09-26T18:49:01Z</dcterms:created>
  <dcterms:modified xsi:type="dcterms:W3CDTF">2026-09-26T19:49:04Z</dcterms:modified>
</cp:coreProperties>
</file>